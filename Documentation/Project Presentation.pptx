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Rebel" charset="1" panose="00000000000000000000"/>
      <p:regular r:id="rId14"/>
    </p:embeddedFont>
    <p:embeddedFont>
      <p:font typeface="Cormorant Garamond" charset="1" panose="00000500000000000000"/>
      <p:regular r:id="rId15"/>
    </p:embeddedFont>
    <p:embeddedFont>
      <p:font typeface="Cormorant Garamond Bold" charset="1" panose="000008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0" y="1031006"/>
            <a:ext cx="6916752" cy="9255994"/>
          </a:xfrm>
          <a:custGeom>
            <a:avLst/>
            <a:gdLst/>
            <a:ahLst/>
            <a:cxnLst/>
            <a:rect r="r" b="b" t="t" l="l"/>
            <a:pathLst>
              <a:path h="9255994" w="6916752">
                <a:moveTo>
                  <a:pt x="0" y="0"/>
                </a:moveTo>
                <a:lnTo>
                  <a:pt x="6916752" y="0"/>
                </a:lnTo>
                <a:lnTo>
                  <a:pt x="6916752" y="9255994"/>
                </a:lnTo>
                <a:lnTo>
                  <a:pt x="0" y="92559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01900" y="-110891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0483475" y="5584774"/>
            <a:ext cx="7804525" cy="4702226"/>
          </a:xfrm>
          <a:custGeom>
            <a:avLst/>
            <a:gdLst/>
            <a:ahLst/>
            <a:cxnLst/>
            <a:rect r="r" b="b" t="t" l="l"/>
            <a:pathLst>
              <a:path h="4702226" w="7804525">
                <a:moveTo>
                  <a:pt x="7804525" y="0"/>
                </a:moveTo>
                <a:lnTo>
                  <a:pt x="0" y="0"/>
                </a:lnTo>
                <a:lnTo>
                  <a:pt x="0" y="4702226"/>
                </a:lnTo>
                <a:lnTo>
                  <a:pt x="7804525" y="4702226"/>
                </a:lnTo>
                <a:lnTo>
                  <a:pt x="7804525"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3499000" y="3907979"/>
            <a:ext cx="13968950" cy="1146174"/>
          </a:xfrm>
          <a:prstGeom prst="rect">
            <a:avLst/>
          </a:prstGeom>
        </p:spPr>
        <p:txBody>
          <a:bodyPr anchor="t" rtlCol="false" tIns="0" lIns="0" bIns="0" rIns="0">
            <a:spAutoFit/>
          </a:bodyPr>
          <a:lstStyle/>
          <a:p>
            <a:pPr algn="ctr">
              <a:lnSpc>
                <a:spcPts val="7999"/>
              </a:lnSpc>
            </a:pPr>
            <a:r>
              <a:rPr lang="en-US" sz="9999">
                <a:solidFill>
                  <a:srgbClr val="FFFFFF"/>
                </a:solidFill>
                <a:latin typeface="Rebel"/>
                <a:ea typeface="Rebel"/>
                <a:cs typeface="Rebel"/>
                <a:sym typeface="Rebel"/>
              </a:rPr>
              <a:t>Project MindMirror</a:t>
            </a:r>
          </a:p>
        </p:txBody>
      </p:sp>
      <p:sp>
        <p:nvSpPr>
          <p:cNvPr name="TextBox 6" id="6"/>
          <p:cNvSpPr txBox="true"/>
          <p:nvPr/>
        </p:nvSpPr>
        <p:spPr>
          <a:xfrm rot="0">
            <a:off x="6916752" y="4696533"/>
            <a:ext cx="7133446" cy="523875"/>
          </a:xfrm>
          <a:prstGeom prst="rect">
            <a:avLst/>
          </a:prstGeom>
        </p:spPr>
        <p:txBody>
          <a:bodyPr anchor="t" rtlCol="false" tIns="0" lIns="0" bIns="0" rIns="0">
            <a:spAutoFit/>
          </a:bodyPr>
          <a:lstStyle/>
          <a:p>
            <a:pPr algn="ctr">
              <a:lnSpc>
                <a:spcPts val="4200"/>
              </a:lnSpc>
            </a:pPr>
            <a:r>
              <a:rPr lang="en-US" sz="3000">
                <a:solidFill>
                  <a:srgbClr val="FFFFFF"/>
                </a:solidFill>
                <a:latin typeface="Cormorant Garamond"/>
                <a:ea typeface="Cormorant Garamond"/>
                <a:cs typeface="Cormorant Garamond"/>
                <a:sym typeface="Cormorant Garamond"/>
              </a:rPr>
              <a:t>Esmeres - Malquisto | 8 - Sampaguita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1338198" y="-1333928"/>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01900" y="72009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4584876"/>
            <a:ext cx="6382974" cy="5702124"/>
          </a:xfrm>
          <a:custGeom>
            <a:avLst/>
            <a:gdLst/>
            <a:ahLst/>
            <a:cxnLst/>
            <a:rect r="r" b="b" t="t" l="l"/>
            <a:pathLst>
              <a:path h="5702124" w="6382974">
                <a:moveTo>
                  <a:pt x="0" y="0"/>
                </a:moveTo>
                <a:lnTo>
                  <a:pt x="6382974" y="0"/>
                </a:lnTo>
                <a:lnTo>
                  <a:pt x="6382974" y="5702124"/>
                </a:lnTo>
                <a:lnTo>
                  <a:pt x="0" y="57021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800000">
            <a:off x="13202638" y="48152"/>
            <a:ext cx="5046254" cy="4114800"/>
          </a:xfrm>
          <a:custGeom>
            <a:avLst/>
            <a:gdLst/>
            <a:ahLst/>
            <a:cxnLst/>
            <a:rect r="r" b="b" t="t" l="l"/>
            <a:pathLst>
              <a:path h="4114800" w="5046254">
                <a:moveTo>
                  <a:pt x="0" y="0"/>
                </a:moveTo>
                <a:lnTo>
                  <a:pt x="5046254" y="0"/>
                </a:lnTo>
                <a:lnTo>
                  <a:pt x="504625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3309731" y="2029559"/>
            <a:ext cx="11668539" cy="1146174"/>
          </a:xfrm>
          <a:prstGeom prst="rect">
            <a:avLst/>
          </a:prstGeom>
        </p:spPr>
        <p:txBody>
          <a:bodyPr anchor="t" rtlCol="false" tIns="0" lIns="0" bIns="0" rIns="0">
            <a:spAutoFit/>
          </a:bodyPr>
          <a:lstStyle/>
          <a:p>
            <a:pPr algn="ctr">
              <a:lnSpc>
                <a:spcPts val="7999"/>
              </a:lnSpc>
            </a:pPr>
            <a:r>
              <a:rPr lang="en-US" sz="9999">
                <a:solidFill>
                  <a:srgbClr val="FFFFFF"/>
                </a:solidFill>
                <a:latin typeface="Rebel"/>
                <a:ea typeface="Rebel"/>
                <a:cs typeface="Rebel"/>
                <a:sym typeface="Rebel"/>
              </a:rPr>
              <a:t>Problem Statement</a:t>
            </a:r>
          </a:p>
        </p:txBody>
      </p:sp>
      <p:sp>
        <p:nvSpPr>
          <p:cNvPr name="TextBox 7" id="7"/>
          <p:cNvSpPr txBox="true"/>
          <p:nvPr/>
        </p:nvSpPr>
        <p:spPr>
          <a:xfrm rot="0">
            <a:off x="2529516" y="4096277"/>
            <a:ext cx="13228968" cy="2454275"/>
          </a:xfrm>
          <a:prstGeom prst="rect">
            <a:avLst/>
          </a:prstGeom>
        </p:spPr>
        <p:txBody>
          <a:bodyPr anchor="t" rtlCol="false" tIns="0" lIns="0" bIns="0" rIns="0">
            <a:spAutoFit/>
          </a:bodyPr>
          <a:lstStyle/>
          <a:p>
            <a:pPr algn="ctr">
              <a:lnSpc>
                <a:spcPts val="4900"/>
              </a:lnSpc>
            </a:pPr>
            <a:r>
              <a:rPr lang="en-US" b="true" sz="3500">
                <a:solidFill>
                  <a:srgbClr val="FFFFFF"/>
                </a:solidFill>
                <a:latin typeface="Cormorant Garamond Bold"/>
                <a:ea typeface="Cormorant Garamond Bold"/>
                <a:cs typeface="Cormorant Garamond Bold"/>
                <a:sym typeface="Cormorant Garamond Bold"/>
              </a:rPr>
              <a:t>Test results often become a basis for comparison, creating an environment where students who score less may feel discouraged, embarrassed, or even undervalued. This can foster unnecessary competition, dividing students rather than collaborating to work together.</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15759402" y="760061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0" y="7055622"/>
            <a:ext cx="4294190" cy="3231378"/>
          </a:xfrm>
          <a:custGeom>
            <a:avLst/>
            <a:gdLst/>
            <a:ahLst/>
            <a:cxnLst/>
            <a:rect r="r" b="b" t="t" l="l"/>
            <a:pathLst>
              <a:path h="3231378" w="4294190">
                <a:moveTo>
                  <a:pt x="0" y="0"/>
                </a:moveTo>
                <a:lnTo>
                  <a:pt x="4294190" y="0"/>
                </a:lnTo>
                <a:lnTo>
                  <a:pt x="4294190" y="3231378"/>
                </a:lnTo>
                <a:lnTo>
                  <a:pt x="0" y="32313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4294190" y="1719841"/>
            <a:ext cx="9699619" cy="1146174"/>
          </a:xfrm>
          <a:prstGeom prst="rect">
            <a:avLst/>
          </a:prstGeom>
        </p:spPr>
        <p:txBody>
          <a:bodyPr anchor="t" rtlCol="false" tIns="0" lIns="0" bIns="0" rIns="0">
            <a:spAutoFit/>
          </a:bodyPr>
          <a:lstStyle/>
          <a:p>
            <a:pPr algn="ctr">
              <a:lnSpc>
                <a:spcPts val="7999"/>
              </a:lnSpc>
            </a:pPr>
            <a:r>
              <a:rPr lang="en-US" sz="9999">
                <a:solidFill>
                  <a:srgbClr val="FFFFFF"/>
                </a:solidFill>
                <a:latin typeface="Rebel"/>
                <a:ea typeface="Rebel"/>
                <a:cs typeface="Rebel"/>
                <a:sym typeface="Rebel"/>
              </a:rPr>
              <a:t>Objectives</a:t>
            </a:r>
          </a:p>
        </p:txBody>
      </p:sp>
      <p:sp>
        <p:nvSpPr>
          <p:cNvPr name="TextBox 6" id="6"/>
          <p:cNvSpPr txBox="true"/>
          <p:nvPr/>
        </p:nvSpPr>
        <p:spPr>
          <a:xfrm rot="0">
            <a:off x="5211160" y="4057218"/>
            <a:ext cx="7865680" cy="4930775"/>
          </a:xfrm>
          <a:prstGeom prst="rect">
            <a:avLst/>
          </a:prstGeom>
        </p:spPr>
        <p:txBody>
          <a:bodyPr anchor="t" rtlCol="false" tIns="0" lIns="0" bIns="0" rIns="0">
            <a:spAutoFit/>
          </a:bodyPr>
          <a:lstStyle/>
          <a:p>
            <a:pPr algn="l" marL="755651" indent="-377825" lvl="1">
              <a:lnSpc>
                <a:spcPts val="4900"/>
              </a:lnSpc>
              <a:buFont typeface="Arial"/>
              <a:buChar char="•"/>
            </a:pPr>
            <a:r>
              <a:rPr lang="en-US" b="true" sz="3500">
                <a:solidFill>
                  <a:srgbClr val="FFFFFF"/>
                </a:solidFill>
                <a:latin typeface="Cormorant Garamond Bold"/>
                <a:ea typeface="Cormorant Garamond Bold"/>
                <a:cs typeface="Cormorant Garamond Bold"/>
                <a:sym typeface="Cormorant Garamond Bold"/>
              </a:rPr>
              <a:t>Develop a Puzzle-Based Assessment System</a:t>
            </a:r>
          </a:p>
          <a:p>
            <a:pPr algn="l" marL="755651" indent="-377825" lvl="1">
              <a:lnSpc>
                <a:spcPts val="4900"/>
              </a:lnSpc>
              <a:buFont typeface="Arial"/>
              <a:buChar char="•"/>
            </a:pPr>
            <a:r>
              <a:rPr lang="en-US" b="true" sz="3500">
                <a:solidFill>
                  <a:srgbClr val="FFFFFF"/>
                </a:solidFill>
                <a:latin typeface="Cormorant Garamond Bold"/>
                <a:ea typeface="Cormorant Garamond Bold"/>
                <a:cs typeface="Cormorant Garamond Bold"/>
                <a:sym typeface="Cormorant Garamond Bold"/>
              </a:rPr>
              <a:t>Allow program functionality</a:t>
            </a:r>
          </a:p>
          <a:p>
            <a:pPr algn="l" marL="755651" indent="-377825" lvl="1">
              <a:lnSpc>
                <a:spcPts val="4900"/>
              </a:lnSpc>
              <a:buFont typeface="Arial"/>
              <a:buChar char="•"/>
            </a:pPr>
            <a:r>
              <a:rPr lang="en-US" b="true" sz="3500">
                <a:solidFill>
                  <a:srgbClr val="FFFFFF"/>
                </a:solidFill>
                <a:latin typeface="Cormorant Garamond Bold"/>
                <a:ea typeface="Cormorant Garamond Bold"/>
                <a:cs typeface="Cormorant Garamond Bold"/>
                <a:sym typeface="Cormorant Garamond Bold"/>
              </a:rPr>
              <a:t>Create an engaging user interface</a:t>
            </a:r>
          </a:p>
          <a:p>
            <a:pPr algn="l" marL="755651" indent="-377825" lvl="1">
              <a:lnSpc>
                <a:spcPts val="4900"/>
              </a:lnSpc>
              <a:buFont typeface="Arial"/>
              <a:buChar char="•"/>
            </a:pPr>
            <a:r>
              <a:rPr lang="en-US" b="true" sz="3500">
                <a:solidFill>
                  <a:srgbClr val="FFFFFF"/>
                </a:solidFill>
                <a:latin typeface="Cormorant Garamond Bold"/>
                <a:ea typeface="Cormorant Garamond Bold"/>
                <a:cs typeface="Cormorant Garamond Bold"/>
                <a:sym typeface="Cormorant Garamond Bold"/>
              </a:rPr>
              <a:t>Use an effective method for scoring</a:t>
            </a:r>
          </a:p>
          <a:p>
            <a:pPr algn="l" marL="755651" indent="-377825" lvl="1">
              <a:lnSpc>
                <a:spcPts val="4900"/>
              </a:lnSpc>
              <a:buFont typeface="Arial"/>
              <a:buChar char="•"/>
            </a:pPr>
            <a:r>
              <a:rPr lang="en-US" b="true" sz="3500">
                <a:solidFill>
                  <a:srgbClr val="FFFFFF"/>
                </a:solidFill>
                <a:latin typeface="Cormorant Garamond Bold"/>
                <a:ea typeface="Cormorant Garamond Bold"/>
                <a:cs typeface="Cormorant Garamond Bold"/>
                <a:sym typeface="Cormorant Garamond Bold"/>
              </a:rPr>
              <a:t>Cite sources used for the development of this project</a:t>
            </a:r>
          </a:p>
          <a:p>
            <a:pPr algn="l">
              <a:lnSpc>
                <a:spcPts val="4900"/>
              </a:lnSpc>
            </a:pPr>
          </a:p>
        </p:txBody>
      </p:sp>
      <p:sp>
        <p:nvSpPr>
          <p:cNvPr name="Freeform 7" id="7"/>
          <p:cNvSpPr/>
          <p:nvPr/>
        </p:nvSpPr>
        <p:spPr>
          <a:xfrm flipH="true" flipV="true" rot="0">
            <a:off x="13993810" y="0"/>
            <a:ext cx="4294190" cy="3231378"/>
          </a:xfrm>
          <a:custGeom>
            <a:avLst/>
            <a:gdLst/>
            <a:ahLst/>
            <a:cxnLst/>
            <a:rect r="r" b="b" t="t" l="l"/>
            <a:pathLst>
              <a:path h="3231378" w="4294190">
                <a:moveTo>
                  <a:pt x="4294190" y="3231378"/>
                </a:moveTo>
                <a:lnTo>
                  <a:pt x="0" y="3231378"/>
                </a:lnTo>
                <a:lnTo>
                  <a:pt x="0" y="0"/>
                </a:lnTo>
                <a:lnTo>
                  <a:pt x="4294190" y="0"/>
                </a:lnTo>
                <a:lnTo>
                  <a:pt x="4294190" y="3231378"/>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623022" y="7596190"/>
            <a:ext cx="3303444" cy="3324220"/>
          </a:xfrm>
          <a:custGeom>
            <a:avLst/>
            <a:gdLst/>
            <a:ahLst/>
            <a:cxnLst/>
            <a:rect r="r" b="b" t="t" l="l"/>
            <a:pathLst>
              <a:path h="3324220" w="3303444">
                <a:moveTo>
                  <a:pt x="0" y="0"/>
                </a:moveTo>
                <a:lnTo>
                  <a:pt x="3303444" y="0"/>
                </a:lnTo>
                <a:lnTo>
                  <a:pt x="3303444" y="3324220"/>
                </a:lnTo>
                <a:lnTo>
                  <a:pt x="0" y="3324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0"/>
            <a:ext cx="7494614" cy="3063424"/>
          </a:xfrm>
          <a:custGeom>
            <a:avLst/>
            <a:gdLst/>
            <a:ahLst/>
            <a:cxnLst/>
            <a:rect r="r" b="b" t="t" l="l"/>
            <a:pathLst>
              <a:path h="3063424" w="7494614">
                <a:moveTo>
                  <a:pt x="0" y="3063424"/>
                </a:moveTo>
                <a:lnTo>
                  <a:pt x="7494614" y="3063424"/>
                </a:lnTo>
                <a:lnTo>
                  <a:pt x="7494614" y="0"/>
                </a:lnTo>
                <a:lnTo>
                  <a:pt x="0" y="0"/>
                </a:lnTo>
                <a:lnTo>
                  <a:pt x="0" y="306342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690883" y="954612"/>
            <a:ext cx="9699619" cy="1146174"/>
          </a:xfrm>
          <a:prstGeom prst="rect">
            <a:avLst/>
          </a:prstGeom>
        </p:spPr>
        <p:txBody>
          <a:bodyPr anchor="t" rtlCol="false" tIns="0" lIns="0" bIns="0" rIns="0">
            <a:spAutoFit/>
          </a:bodyPr>
          <a:lstStyle/>
          <a:p>
            <a:pPr algn="ctr">
              <a:lnSpc>
                <a:spcPts val="7999"/>
              </a:lnSpc>
            </a:pPr>
            <a:r>
              <a:rPr lang="en-US" sz="9999">
                <a:solidFill>
                  <a:srgbClr val="FFFFFF"/>
                </a:solidFill>
                <a:latin typeface="Rebel"/>
                <a:ea typeface="Rebel"/>
                <a:cs typeface="Rebel"/>
                <a:sym typeface="Rebel"/>
              </a:rPr>
              <a:t>Methodology</a:t>
            </a:r>
          </a:p>
        </p:txBody>
      </p:sp>
      <p:sp>
        <p:nvSpPr>
          <p:cNvPr name="TextBox 5" id="5"/>
          <p:cNvSpPr txBox="true"/>
          <p:nvPr/>
        </p:nvSpPr>
        <p:spPr>
          <a:xfrm rot="0">
            <a:off x="2823432" y="3722692"/>
            <a:ext cx="12641137" cy="4454523"/>
          </a:xfrm>
          <a:prstGeom prst="rect">
            <a:avLst/>
          </a:prstGeom>
        </p:spPr>
        <p:txBody>
          <a:bodyPr anchor="t" rtlCol="false" tIns="0" lIns="0" bIns="0" rIns="0">
            <a:spAutoFit/>
          </a:bodyPr>
          <a:lstStyle/>
          <a:p>
            <a:pPr algn="l" marL="777021" indent="-388510" lvl="1">
              <a:lnSpc>
                <a:spcPts val="5038"/>
              </a:lnSpc>
              <a:buFont typeface="Arial"/>
              <a:buChar char="•"/>
            </a:pPr>
            <a:r>
              <a:rPr lang="en-US" b="true" sz="3598">
                <a:solidFill>
                  <a:srgbClr val="FFFFFF"/>
                </a:solidFill>
                <a:latin typeface="Cormorant Garamond Bold"/>
                <a:ea typeface="Cormorant Garamond Bold"/>
                <a:cs typeface="Cormorant Garamond Bold"/>
                <a:sym typeface="Cormorant Garamond Bold"/>
              </a:rPr>
              <a:t>Began research on effective questions for the 6  types of intelligences the project will utilize.</a:t>
            </a:r>
          </a:p>
          <a:p>
            <a:pPr algn="l" marL="777021" indent="-388510" lvl="1">
              <a:lnSpc>
                <a:spcPts val="5038"/>
              </a:lnSpc>
              <a:buFont typeface="Arial"/>
              <a:buChar char="•"/>
            </a:pPr>
            <a:r>
              <a:rPr lang="en-US" b="true" sz="3598">
                <a:solidFill>
                  <a:srgbClr val="FFFFFF"/>
                </a:solidFill>
                <a:latin typeface="Cormorant Garamond Bold"/>
                <a:ea typeface="Cormorant Garamond Bold"/>
                <a:cs typeface="Cormorant Garamond Bold"/>
                <a:sym typeface="Cormorant Garamond Bold"/>
              </a:rPr>
              <a:t>Started designing a simple, minimalistic design for the main menu interface, and for the UI design in the questions part.</a:t>
            </a:r>
          </a:p>
          <a:p>
            <a:pPr algn="l" marL="777021" indent="-388510" lvl="1">
              <a:lnSpc>
                <a:spcPts val="5038"/>
              </a:lnSpc>
              <a:buFont typeface="Arial"/>
              <a:buChar char="•"/>
            </a:pPr>
            <a:r>
              <a:rPr lang="en-US" b="true" sz="3598">
                <a:solidFill>
                  <a:srgbClr val="FFFFFF"/>
                </a:solidFill>
                <a:latin typeface="Cormorant Garamond Bold"/>
                <a:ea typeface="Cormorant Garamond Bold"/>
                <a:cs typeface="Cormorant Garamond Bold"/>
                <a:sym typeface="Cormorant Garamond Bold"/>
              </a:rPr>
              <a:t>Creation of a scoring system used to interpret a user’s performance into a scoring metric with the usage of a polar bar chart.</a:t>
            </a:r>
          </a:p>
        </p:txBody>
      </p:sp>
      <p:sp>
        <p:nvSpPr>
          <p:cNvPr name="Freeform 6" id="6"/>
          <p:cNvSpPr/>
          <p:nvPr/>
        </p:nvSpPr>
        <p:spPr>
          <a:xfrm flipH="true" flipV="false" rot="0">
            <a:off x="10793386" y="7223576"/>
            <a:ext cx="7494614" cy="3063424"/>
          </a:xfrm>
          <a:custGeom>
            <a:avLst/>
            <a:gdLst/>
            <a:ahLst/>
            <a:cxnLst/>
            <a:rect r="r" b="b" t="t" l="l"/>
            <a:pathLst>
              <a:path h="3063424" w="7494614">
                <a:moveTo>
                  <a:pt x="7494614" y="0"/>
                </a:moveTo>
                <a:lnTo>
                  <a:pt x="0" y="0"/>
                </a:lnTo>
                <a:lnTo>
                  <a:pt x="0" y="3063424"/>
                </a:lnTo>
                <a:lnTo>
                  <a:pt x="7494614" y="3063424"/>
                </a:lnTo>
                <a:lnTo>
                  <a:pt x="7494614"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3225219" y="2712038"/>
            <a:ext cx="5106476" cy="702772"/>
            <a:chOff x="0" y="0"/>
            <a:chExt cx="1344916" cy="185092"/>
          </a:xfrm>
        </p:grpSpPr>
        <p:sp>
          <p:nvSpPr>
            <p:cNvPr name="Freeform 8" id="8"/>
            <p:cNvSpPr/>
            <p:nvPr/>
          </p:nvSpPr>
          <p:spPr>
            <a:xfrm flipH="false" flipV="false" rot="0">
              <a:off x="0" y="0"/>
              <a:ext cx="1344916" cy="185092"/>
            </a:xfrm>
            <a:custGeom>
              <a:avLst/>
              <a:gdLst/>
              <a:ahLst/>
              <a:cxnLst/>
              <a:rect r="r" b="b" t="t" l="l"/>
              <a:pathLst>
                <a:path h="185092" w="1344916">
                  <a:moveTo>
                    <a:pt x="77321" y="0"/>
                  </a:moveTo>
                  <a:lnTo>
                    <a:pt x="1267595" y="0"/>
                  </a:lnTo>
                  <a:cubicBezTo>
                    <a:pt x="1288101" y="0"/>
                    <a:pt x="1307768" y="8146"/>
                    <a:pt x="1322269" y="22647"/>
                  </a:cubicBezTo>
                  <a:cubicBezTo>
                    <a:pt x="1336769" y="37147"/>
                    <a:pt x="1344916" y="56814"/>
                    <a:pt x="1344916" y="77321"/>
                  </a:cubicBezTo>
                  <a:lnTo>
                    <a:pt x="1344916" y="107771"/>
                  </a:lnTo>
                  <a:cubicBezTo>
                    <a:pt x="1344916" y="150474"/>
                    <a:pt x="1310298" y="185092"/>
                    <a:pt x="1267595" y="185092"/>
                  </a:cubicBezTo>
                  <a:lnTo>
                    <a:pt x="77321" y="185092"/>
                  </a:lnTo>
                  <a:cubicBezTo>
                    <a:pt x="34618" y="185092"/>
                    <a:pt x="0" y="150474"/>
                    <a:pt x="0" y="107771"/>
                  </a:cubicBezTo>
                  <a:lnTo>
                    <a:pt x="0" y="77321"/>
                  </a:lnTo>
                  <a:cubicBezTo>
                    <a:pt x="0" y="34618"/>
                    <a:pt x="34618" y="0"/>
                    <a:pt x="77321" y="0"/>
                  </a:cubicBezTo>
                  <a:close/>
                </a:path>
              </a:pathLst>
            </a:custGeom>
            <a:solidFill>
              <a:srgbClr val="0CC0DF"/>
            </a:solidFill>
            <a:ln w="38100" cap="rnd">
              <a:solidFill>
                <a:srgbClr val="FFFFFF"/>
              </a:solidFill>
              <a:prstDash val="solid"/>
              <a:round/>
            </a:ln>
          </p:spPr>
        </p:sp>
        <p:sp>
          <p:nvSpPr>
            <p:cNvPr name="TextBox 9" id="9"/>
            <p:cNvSpPr txBox="true"/>
            <p:nvPr/>
          </p:nvSpPr>
          <p:spPr>
            <a:xfrm>
              <a:off x="0" y="-38100"/>
              <a:ext cx="1344916" cy="223192"/>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225219" y="2794184"/>
            <a:ext cx="6804137" cy="481329"/>
          </a:xfrm>
          <a:prstGeom prst="rect">
            <a:avLst/>
          </a:prstGeom>
        </p:spPr>
        <p:txBody>
          <a:bodyPr anchor="t" rtlCol="false" tIns="0" lIns="0" bIns="0" rIns="0">
            <a:spAutoFit/>
          </a:bodyPr>
          <a:lstStyle/>
          <a:p>
            <a:pPr algn="l" marL="604526" indent="-302263" lvl="1">
              <a:lnSpc>
                <a:spcPts val="3920"/>
              </a:lnSpc>
              <a:buFont typeface="Arial"/>
              <a:buChar char="•"/>
            </a:pPr>
            <a:r>
              <a:rPr lang="en-US" b="true" sz="2800">
                <a:solidFill>
                  <a:srgbClr val="FFFFFF"/>
                </a:solidFill>
                <a:latin typeface="Cormorant Garamond Bold"/>
                <a:ea typeface="Cormorant Garamond Bold"/>
                <a:cs typeface="Cormorant Garamond Bold"/>
                <a:sym typeface="Cormorant Garamond Bold"/>
              </a:rPr>
              <a:t>RESEARCH &amp; CREATION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623022" y="7596190"/>
            <a:ext cx="3303444" cy="3324220"/>
          </a:xfrm>
          <a:custGeom>
            <a:avLst/>
            <a:gdLst/>
            <a:ahLst/>
            <a:cxnLst/>
            <a:rect r="r" b="b" t="t" l="l"/>
            <a:pathLst>
              <a:path h="3324220" w="3303444">
                <a:moveTo>
                  <a:pt x="0" y="0"/>
                </a:moveTo>
                <a:lnTo>
                  <a:pt x="3303444" y="0"/>
                </a:lnTo>
                <a:lnTo>
                  <a:pt x="3303444" y="3324220"/>
                </a:lnTo>
                <a:lnTo>
                  <a:pt x="0" y="3324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0"/>
            <a:ext cx="7494614" cy="3063424"/>
          </a:xfrm>
          <a:custGeom>
            <a:avLst/>
            <a:gdLst/>
            <a:ahLst/>
            <a:cxnLst/>
            <a:rect r="r" b="b" t="t" l="l"/>
            <a:pathLst>
              <a:path h="3063424" w="7494614">
                <a:moveTo>
                  <a:pt x="0" y="3063424"/>
                </a:moveTo>
                <a:lnTo>
                  <a:pt x="7494614" y="3063424"/>
                </a:lnTo>
                <a:lnTo>
                  <a:pt x="7494614" y="0"/>
                </a:lnTo>
                <a:lnTo>
                  <a:pt x="0" y="0"/>
                </a:lnTo>
                <a:lnTo>
                  <a:pt x="0" y="306342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690883" y="954612"/>
            <a:ext cx="9699619" cy="1146174"/>
          </a:xfrm>
          <a:prstGeom prst="rect">
            <a:avLst/>
          </a:prstGeom>
        </p:spPr>
        <p:txBody>
          <a:bodyPr anchor="t" rtlCol="false" tIns="0" lIns="0" bIns="0" rIns="0">
            <a:spAutoFit/>
          </a:bodyPr>
          <a:lstStyle/>
          <a:p>
            <a:pPr algn="ctr">
              <a:lnSpc>
                <a:spcPts val="7999"/>
              </a:lnSpc>
            </a:pPr>
            <a:r>
              <a:rPr lang="en-US" sz="9999">
                <a:solidFill>
                  <a:srgbClr val="FFFFFF"/>
                </a:solidFill>
                <a:latin typeface="Rebel"/>
                <a:ea typeface="Rebel"/>
                <a:cs typeface="Rebel"/>
                <a:sym typeface="Rebel"/>
              </a:rPr>
              <a:t>Methodology</a:t>
            </a:r>
          </a:p>
        </p:txBody>
      </p:sp>
      <p:sp>
        <p:nvSpPr>
          <p:cNvPr name="TextBox 5" id="5"/>
          <p:cNvSpPr txBox="true"/>
          <p:nvPr/>
        </p:nvSpPr>
        <p:spPr>
          <a:xfrm rot="0">
            <a:off x="2823432" y="3722692"/>
            <a:ext cx="12641137" cy="2534839"/>
          </a:xfrm>
          <a:prstGeom prst="rect">
            <a:avLst/>
          </a:prstGeom>
        </p:spPr>
        <p:txBody>
          <a:bodyPr anchor="t" rtlCol="false" tIns="0" lIns="0" bIns="0" rIns="0">
            <a:spAutoFit/>
          </a:bodyPr>
          <a:lstStyle/>
          <a:p>
            <a:pPr algn="l" marL="777021" indent="-388510" lvl="1">
              <a:lnSpc>
                <a:spcPts val="5038"/>
              </a:lnSpc>
              <a:buFont typeface="Arial"/>
              <a:buChar char="•"/>
            </a:pPr>
            <a:r>
              <a:rPr lang="en-US" b="true" sz="3598">
                <a:solidFill>
                  <a:srgbClr val="FFFFFF"/>
                </a:solidFill>
                <a:latin typeface="Cormorant Garamond Bold"/>
                <a:ea typeface="Cormorant Garamond Bold"/>
                <a:cs typeface="Cormorant Garamond Bold"/>
                <a:sym typeface="Cormorant Garamond Bold"/>
              </a:rPr>
              <a:t>Started on an initial draft regarding the project proposal, features, problem statements, and so on.</a:t>
            </a:r>
          </a:p>
          <a:p>
            <a:pPr algn="l" marL="777021" indent="-388510" lvl="1">
              <a:lnSpc>
                <a:spcPts val="5038"/>
              </a:lnSpc>
              <a:buFont typeface="Arial"/>
              <a:buChar char="•"/>
            </a:pPr>
            <a:r>
              <a:rPr lang="en-US" b="true" sz="3598">
                <a:solidFill>
                  <a:srgbClr val="FFFFFF"/>
                </a:solidFill>
                <a:latin typeface="Cormorant Garamond Bold"/>
                <a:ea typeface="Cormorant Garamond Bold"/>
                <a:cs typeface="Cormorant Garamond Bold"/>
                <a:sym typeface="Cormorant Garamond Bold"/>
              </a:rPr>
              <a:t>Updated documentation of readme, project proposal, problem statements, objectives, progress reports, and more.</a:t>
            </a:r>
          </a:p>
        </p:txBody>
      </p:sp>
      <p:sp>
        <p:nvSpPr>
          <p:cNvPr name="Freeform 6" id="6"/>
          <p:cNvSpPr/>
          <p:nvPr/>
        </p:nvSpPr>
        <p:spPr>
          <a:xfrm flipH="true" flipV="false" rot="0">
            <a:off x="10793386" y="7223576"/>
            <a:ext cx="7494614" cy="3063424"/>
          </a:xfrm>
          <a:custGeom>
            <a:avLst/>
            <a:gdLst/>
            <a:ahLst/>
            <a:cxnLst/>
            <a:rect r="r" b="b" t="t" l="l"/>
            <a:pathLst>
              <a:path h="3063424" w="7494614">
                <a:moveTo>
                  <a:pt x="7494614" y="0"/>
                </a:moveTo>
                <a:lnTo>
                  <a:pt x="0" y="0"/>
                </a:lnTo>
                <a:lnTo>
                  <a:pt x="0" y="3063424"/>
                </a:lnTo>
                <a:lnTo>
                  <a:pt x="7494614" y="3063424"/>
                </a:lnTo>
                <a:lnTo>
                  <a:pt x="7494614"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3225219" y="2712038"/>
            <a:ext cx="5106476" cy="702772"/>
            <a:chOff x="0" y="0"/>
            <a:chExt cx="1344916" cy="185092"/>
          </a:xfrm>
        </p:grpSpPr>
        <p:sp>
          <p:nvSpPr>
            <p:cNvPr name="Freeform 8" id="8"/>
            <p:cNvSpPr/>
            <p:nvPr/>
          </p:nvSpPr>
          <p:spPr>
            <a:xfrm flipH="false" flipV="false" rot="0">
              <a:off x="0" y="0"/>
              <a:ext cx="1344916" cy="185092"/>
            </a:xfrm>
            <a:custGeom>
              <a:avLst/>
              <a:gdLst/>
              <a:ahLst/>
              <a:cxnLst/>
              <a:rect r="r" b="b" t="t" l="l"/>
              <a:pathLst>
                <a:path h="185092" w="1344916">
                  <a:moveTo>
                    <a:pt x="77321" y="0"/>
                  </a:moveTo>
                  <a:lnTo>
                    <a:pt x="1267595" y="0"/>
                  </a:lnTo>
                  <a:cubicBezTo>
                    <a:pt x="1288101" y="0"/>
                    <a:pt x="1307768" y="8146"/>
                    <a:pt x="1322269" y="22647"/>
                  </a:cubicBezTo>
                  <a:cubicBezTo>
                    <a:pt x="1336769" y="37147"/>
                    <a:pt x="1344916" y="56814"/>
                    <a:pt x="1344916" y="77321"/>
                  </a:cubicBezTo>
                  <a:lnTo>
                    <a:pt x="1344916" y="107771"/>
                  </a:lnTo>
                  <a:cubicBezTo>
                    <a:pt x="1344916" y="150474"/>
                    <a:pt x="1310298" y="185092"/>
                    <a:pt x="1267595" y="185092"/>
                  </a:cubicBezTo>
                  <a:lnTo>
                    <a:pt x="77321" y="185092"/>
                  </a:lnTo>
                  <a:cubicBezTo>
                    <a:pt x="34618" y="185092"/>
                    <a:pt x="0" y="150474"/>
                    <a:pt x="0" y="107771"/>
                  </a:cubicBezTo>
                  <a:lnTo>
                    <a:pt x="0" y="77321"/>
                  </a:lnTo>
                  <a:cubicBezTo>
                    <a:pt x="0" y="34618"/>
                    <a:pt x="34618" y="0"/>
                    <a:pt x="77321" y="0"/>
                  </a:cubicBezTo>
                  <a:close/>
                </a:path>
              </a:pathLst>
            </a:custGeom>
            <a:solidFill>
              <a:srgbClr val="0CC0DF"/>
            </a:solidFill>
            <a:ln w="38100" cap="rnd">
              <a:solidFill>
                <a:srgbClr val="FFFFFF"/>
              </a:solidFill>
              <a:prstDash val="solid"/>
              <a:round/>
            </a:ln>
          </p:spPr>
        </p:sp>
        <p:sp>
          <p:nvSpPr>
            <p:cNvPr name="TextBox 9" id="9"/>
            <p:cNvSpPr txBox="true"/>
            <p:nvPr/>
          </p:nvSpPr>
          <p:spPr>
            <a:xfrm>
              <a:off x="0" y="-38100"/>
              <a:ext cx="1344916" cy="223192"/>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225219" y="2794184"/>
            <a:ext cx="6804137" cy="481329"/>
          </a:xfrm>
          <a:prstGeom prst="rect">
            <a:avLst/>
          </a:prstGeom>
        </p:spPr>
        <p:txBody>
          <a:bodyPr anchor="t" rtlCol="false" tIns="0" lIns="0" bIns="0" rIns="0">
            <a:spAutoFit/>
          </a:bodyPr>
          <a:lstStyle/>
          <a:p>
            <a:pPr algn="l" marL="604526" indent="-302263" lvl="1">
              <a:lnSpc>
                <a:spcPts val="3920"/>
              </a:lnSpc>
              <a:buFont typeface="Arial"/>
              <a:buChar char="•"/>
            </a:pPr>
            <a:r>
              <a:rPr lang="en-US" b="true" sz="2800">
                <a:solidFill>
                  <a:srgbClr val="FFFFFF"/>
                </a:solidFill>
                <a:latin typeface="Cormorant Garamond Bold"/>
                <a:ea typeface="Cormorant Garamond Bold"/>
                <a:cs typeface="Cormorant Garamond Bold"/>
                <a:sym typeface="Cormorant Garamond Bold"/>
              </a:rPr>
              <a:t>DOCUMENTATION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623022" y="7596190"/>
            <a:ext cx="3303444" cy="3324220"/>
          </a:xfrm>
          <a:custGeom>
            <a:avLst/>
            <a:gdLst/>
            <a:ahLst/>
            <a:cxnLst/>
            <a:rect r="r" b="b" t="t" l="l"/>
            <a:pathLst>
              <a:path h="3324220" w="3303444">
                <a:moveTo>
                  <a:pt x="0" y="0"/>
                </a:moveTo>
                <a:lnTo>
                  <a:pt x="3303444" y="0"/>
                </a:lnTo>
                <a:lnTo>
                  <a:pt x="3303444" y="3324220"/>
                </a:lnTo>
                <a:lnTo>
                  <a:pt x="0" y="3324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0"/>
            <a:ext cx="7494614" cy="3063424"/>
          </a:xfrm>
          <a:custGeom>
            <a:avLst/>
            <a:gdLst/>
            <a:ahLst/>
            <a:cxnLst/>
            <a:rect r="r" b="b" t="t" l="l"/>
            <a:pathLst>
              <a:path h="3063424" w="7494614">
                <a:moveTo>
                  <a:pt x="0" y="3063424"/>
                </a:moveTo>
                <a:lnTo>
                  <a:pt x="7494614" y="3063424"/>
                </a:lnTo>
                <a:lnTo>
                  <a:pt x="7494614" y="0"/>
                </a:lnTo>
                <a:lnTo>
                  <a:pt x="0" y="0"/>
                </a:lnTo>
                <a:lnTo>
                  <a:pt x="0" y="306342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690883" y="954612"/>
            <a:ext cx="9699619" cy="1146174"/>
          </a:xfrm>
          <a:prstGeom prst="rect">
            <a:avLst/>
          </a:prstGeom>
        </p:spPr>
        <p:txBody>
          <a:bodyPr anchor="t" rtlCol="false" tIns="0" lIns="0" bIns="0" rIns="0">
            <a:spAutoFit/>
          </a:bodyPr>
          <a:lstStyle/>
          <a:p>
            <a:pPr algn="ctr">
              <a:lnSpc>
                <a:spcPts val="7999"/>
              </a:lnSpc>
            </a:pPr>
            <a:r>
              <a:rPr lang="en-US" sz="9999">
                <a:solidFill>
                  <a:srgbClr val="FFFFFF"/>
                </a:solidFill>
                <a:latin typeface="Rebel"/>
                <a:ea typeface="Rebel"/>
                <a:cs typeface="Rebel"/>
                <a:sym typeface="Rebel"/>
              </a:rPr>
              <a:t>Methodology</a:t>
            </a:r>
          </a:p>
        </p:txBody>
      </p:sp>
      <p:sp>
        <p:nvSpPr>
          <p:cNvPr name="TextBox 5" id="5"/>
          <p:cNvSpPr txBox="true"/>
          <p:nvPr/>
        </p:nvSpPr>
        <p:spPr>
          <a:xfrm rot="0">
            <a:off x="2823432" y="3722692"/>
            <a:ext cx="12641137" cy="1894945"/>
          </a:xfrm>
          <a:prstGeom prst="rect">
            <a:avLst/>
          </a:prstGeom>
        </p:spPr>
        <p:txBody>
          <a:bodyPr anchor="t" rtlCol="false" tIns="0" lIns="0" bIns="0" rIns="0">
            <a:spAutoFit/>
          </a:bodyPr>
          <a:lstStyle/>
          <a:p>
            <a:pPr algn="l" marL="777021" indent="-388510" lvl="1">
              <a:lnSpc>
                <a:spcPts val="5038"/>
              </a:lnSpc>
              <a:buFont typeface="Arial"/>
              <a:buChar char="•"/>
            </a:pPr>
            <a:r>
              <a:rPr lang="en-US" b="true" sz="3598">
                <a:solidFill>
                  <a:srgbClr val="FFFFFF"/>
                </a:solidFill>
                <a:latin typeface="Cormorant Garamond Bold"/>
                <a:ea typeface="Cormorant Garamond Bold"/>
                <a:cs typeface="Cormorant Garamond Bold"/>
                <a:sym typeface="Cormorant Garamond Bold"/>
              </a:rPr>
              <a:t>VSC0de as the main Python IDE for coding the program</a:t>
            </a:r>
          </a:p>
          <a:p>
            <a:pPr algn="l" marL="777021" indent="-388510" lvl="1">
              <a:lnSpc>
                <a:spcPts val="5038"/>
              </a:lnSpc>
              <a:buFont typeface="Arial"/>
              <a:buChar char="•"/>
            </a:pPr>
            <a:r>
              <a:rPr lang="en-US" b="true" sz="3598">
                <a:solidFill>
                  <a:srgbClr val="FFFFFF"/>
                </a:solidFill>
                <a:latin typeface="Cormorant Garamond Bold"/>
                <a:ea typeface="Cormorant Garamond Bold"/>
                <a:cs typeface="Cormorant Garamond Bold"/>
                <a:sym typeface="Cormorant Garamond Bold"/>
              </a:rPr>
              <a:t>AI Platforms for assisting in the organization and compilation of projects.</a:t>
            </a:r>
          </a:p>
        </p:txBody>
      </p:sp>
      <p:sp>
        <p:nvSpPr>
          <p:cNvPr name="Freeform 6" id="6"/>
          <p:cNvSpPr/>
          <p:nvPr/>
        </p:nvSpPr>
        <p:spPr>
          <a:xfrm flipH="true" flipV="false" rot="0">
            <a:off x="10793386" y="7223576"/>
            <a:ext cx="7494614" cy="3063424"/>
          </a:xfrm>
          <a:custGeom>
            <a:avLst/>
            <a:gdLst/>
            <a:ahLst/>
            <a:cxnLst/>
            <a:rect r="r" b="b" t="t" l="l"/>
            <a:pathLst>
              <a:path h="3063424" w="7494614">
                <a:moveTo>
                  <a:pt x="7494614" y="0"/>
                </a:moveTo>
                <a:lnTo>
                  <a:pt x="0" y="0"/>
                </a:lnTo>
                <a:lnTo>
                  <a:pt x="0" y="3063424"/>
                </a:lnTo>
                <a:lnTo>
                  <a:pt x="7494614" y="3063424"/>
                </a:lnTo>
                <a:lnTo>
                  <a:pt x="7494614"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3225219" y="2712038"/>
            <a:ext cx="5106476" cy="702772"/>
            <a:chOff x="0" y="0"/>
            <a:chExt cx="1344916" cy="185092"/>
          </a:xfrm>
        </p:grpSpPr>
        <p:sp>
          <p:nvSpPr>
            <p:cNvPr name="Freeform 8" id="8"/>
            <p:cNvSpPr/>
            <p:nvPr/>
          </p:nvSpPr>
          <p:spPr>
            <a:xfrm flipH="false" flipV="false" rot="0">
              <a:off x="0" y="0"/>
              <a:ext cx="1344916" cy="185092"/>
            </a:xfrm>
            <a:custGeom>
              <a:avLst/>
              <a:gdLst/>
              <a:ahLst/>
              <a:cxnLst/>
              <a:rect r="r" b="b" t="t" l="l"/>
              <a:pathLst>
                <a:path h="185092" w="1344916">
                  <a:moveTo>
                    <a:pt x="77321" y="0"/>
                  </a:moveTo>
                  <a:lnTo>
                    <a:pt x="1267595" y="0"/>
                  </a:lnTo>
                  <a:cubicBezTo>
                    <a:pt x="1288101" y="0"/>
                    <a:pt x="1307768" y="8146"/>
                    <a:pt x="1322269" y="22647"/>
                  </a:cubicBezTo>
                  <a:cubicBezTo>
                    <a:pt x="1336769" y="37147"/>
                    <a:pt x="1344916" y="56814"/>
                    <a:pt x="1344916" y="77321"/>
                  </a:cubicBezTo>
                  <a:lnTo>
                    <a:pt x="1344916" y="107771"/>
                  </a:lnTo>
                  <a:cubicBezTo>
                    <a:pt x="1344916" y="150474"/>
                    <a:pt x="1310298" y="185092"/>
                    <a:pt x="1267595" y="185092"/>
                  </a:cubicBezTo>
                  <a:lnTo>
                    <a:pt x="77321" y="185092"/>
                  </a:lnTo>
                  <a:cubicBezTo>
                    <a:pt x="34618" y="185092"/>
                    <a:pt x="0" y="150474"/>
                    <a:pt x="0" y="107771"/>
                  </a:cubicBezTo>
                  <a:lnTo>
                    <a:pt x="0" y="77321"/>
                  </a:lnTo>
                  <a:cubicBezTo>
                    <a:pt x="0" y="34618"/>
                    <a:pt x="34618" y="0"/>
                    <a:pt x="77321" y="0"/>
                  </a:cubicBezTo>
                  <a:close/>
                </a:path>
              </a:pathLst>
            </a:custGeom>
            <a:solidFill>
              <a:srgbClr val="0CC0DF"/>
            </a:solidFill>
            <a:ln w="38100" cap="rnd">
              <a:solidFill>
                <a:srgbClr val="FFFFFF"/>
              </a:solidFill>
              <a:prstDash val="solid"/>
              <a:round/>
            </a:ln>
          </p:spPr>
        </p:sp>
        <p:sp>
          <p:nvSpPr>
            <p:cNvPr name="TextBox 9" id="9"/>
            <p:cNvSpPr txBox="true"/>
            <p:nvPr/>
          </p:nvSpPr>
          <p:spPr>
            <a:xfrm>
              <a:off x="0" y="-38100"/>
              <a:ext cx="1344916" cy="223192"/>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225219" y="2794184"/>
            <a:ext cx="6804137" cy="481329"/>
          </a:xfrm>
          <a:prstGeom prst="rect">
            <a:avLst/>
          </a:prstGeom>
        </p:spPr>
        <p:txBody>
          <a:bodyPr anchor="t" rtlCol="false" tIns="0" lIns="0" bIns="0" rIns="0">
            <a:spAutoFit/>
          </a:bodyPr>
          <a:lstStyle/>
          <a:p>
            <a:pPr algn="l" marL="604526" indent="-302263" lvl="1">
              <a:lnSpc>
                <a:spcPts val="3920"/>
              </a:lnSpc>
              <a:buFont typeface="Arial"/>
              <a:buChar char="•"/>
            </a:pPr>
            <a:r>
              <a:rPr lang="en-US" b="true" sz="2800">
                <a:solidFill>
                  <a:srgbClr val="FFFFFF"/>
                </a:solidFill>
                <a:latin typeface="Cormorant Garamond Bold"/>
                <a:ea typeface="Cormorant Garamond Bold"/>
                <a:cs typeface="Cormorant Garamond Bold"/>
                <a:sym typeface="Cormorant Garamond Bold"/>
              </a:rPr>
              <a:t>TECHNOLOGIES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623022" y="7596190"/>
            <a:ext cx="3303444" cy="3324220"/>
          </a:xfrm>
          <a:custGeom>
            <a:avLst/>
            <a:gdLst/>
            <a:ahLst/>
            <a:cxnLst/>
            <a:rect r="r" b="b" t="t" l="l"/>
            <a:pathLst>
              <a:path h="3324220" w="3303444">
                <a:moveTo>
                  <a:pt x="0" y="0"/>
                </a:moveTo>
                <a:lnTo>
                  <a:pt x="3303444" y="0"/>
                </a:lnTo>
                <a:lnTo>
                  <a:pt x="3303444" y="3324220"/>
                </a:lnTo>
                <a:lnTo>
                  <a:pt x="0" y="33242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0"/>
            <a:ext cx="7494614" cy="3063424"/>
          </a:xfrm>
          <a:custGeom>
            <a:avLst/>
            <a:gdLst/>
            <a:ahLst/>
            <a:cxnLst/>
            <a:rect r="r" b="b" t="t" l="l"/>
            <a:pathLst>
              <a:path h="3063424" w="7494614">
                <a:moveTo>
                  <a:pt x="0" y="3063424"/>
                </a:moveTo>
                <a:lnTo>
                  <a:pt x="7494614" y="3063424"/>
                </a:lnTo>
                <a:lnTo>
                  <a:pt x="7494614" y="0"/>
                </a:lnTo>
                <a:lnTo>
                  <a:pt x="0" y="0"/>
                </a:lnTo>
                <a:lnTo>
                  <a:pt x="0" y="306342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9690883" y="954612"/>
            <a:ext cx="9699619" cy="1146174"/>
          </a:xfrm>
          <a:prstGeom prst="rect">
            <a:avLst/>
          </a:prstGeom>
        </p:spPr>
        <p:txBody>
          <a:bodyPr anchor="t" rtlCol="false" tIns="0" lIns="0" bIns="0" rIns="0">
            <a:spAutoFit/>
          </a:bodyPr>
          <a:lstStyle/>
          <a:p>
            <a:pPr algn="ctr">
              <a:lnSpc>
                <a:spcPts val="7999"/>
              </a:lnSpc>
            </a:pPr>
            <a:r>
              <a:rPr lang="en-US" sz="9999">
                <a:solidFill>
                  <a:srgbClr val="FFFFFF"/>
                </a:solidFill>
                <a:latin typeface="Rebel"/>
                <a:ea typeface="Rebel"/>
                <a:cs typeface="Rebel"/>
                <a:sym typeface="Rebel"/>
              </a:rPr>
              <a:t>Methodology</a:t>
            </a:r>
          </a:p>
        </p:txBody>
      </p:sp>
      <p:sp>
        <p:nvSpPr>
          <p:cNvPr name="TextBox 5" id="5"/>
          <p:cNvSpPr txBox="true"/>
          <p:nvPr/>
        </p:nvSpPr>
        <p:spPr>
          <a:xfrm rot="0">
            <a:off x="2823432" y="3722692"/>
            <a:ext cx="12641137" cy="1255050"/>
          </a:xfrm>
          <a:prstGeom prst="rect">
            <a:avLst/>
          </a:prstGeom>
        </p:spPr>
        <p:txBody>
          <a:bodyPr anchor="t" rtlCol="false" tIns="0" lIns="0" bIns="0" rIns="0">
            <a:spAutoFit/>
          </a:bodyPr>
          <a:lstStyle/>
          <a:p>
            <a:pPr algn="l" marL="777021" indent="-388510" lvl="1">
              <a:lnSpc>
                <a:spcPts val="5038"/>
              </a:lnSpc>
              <a:buFont typeface="Arial"/>
              <a:buChar char="•"/>
            </a:pPr>
            <a:r>
              <a:rPr lang="en-US" b="true" sz="3598">
                <a:solidFill>
                  <a:srgbClr val="FFFFFF"/>
                </a:solidFill>
                <a:latin typeface="Cormorant Garamond Bold"/>
                <a:ea typeface="Cormorant Garamond Bold"/>
                <a:cs typeface="Cormorant Garamond Bold"/>
                <a:sym typeface="Cormorant Garamond Bold"/>
              </a:rPr>
              <a:t>With the complexity of implementing GUIs in Python and the shortening of time, a drop in the quality of design may emerge.</a:t>
            </a:r>
          </a:p>
        </p:txBody>
      </p:sp>
      <p:sp>
        <p:nvSpPr>
          <p:cNvPr name="Freeform 6" id="6"/>
          <p:cNvSpPr/>
          <p:nvPr/>
        </p:nvSpPr>
        <p:spPr>
          <a:xfrm flipH="true" flipV="false" rot="0">
            <a:off x="10793386" y="7223576"/>
            <a:ext cx="7494614" cy="3063424"/>
          </a:xfrm>
          <a:custGeom>
            <a:avLst/>
            <a:gdLst/>
            <a:ahLst/>
            <a:cxnLst/>
            <a:rect r="r" b="b" t="t" l="l"/>
            <a:pathLst>
              <a:path h="3063424" w="7494614">
                <a:moveTo>
                  <a:pt x="7494614" y="0"/>
                </a:moveTo>
                <a:lnTo>
                  <a:pt x="0" y="0"/>
                </a:lnTo>
                <a:lnTo>
                  <a:pt x="0" y="3063424"/>
                </a:lnTo>
                <a:lnTo>
                  <a:pt x="7494614" y="3063424"/>
                </a:lnTo>
                <a:lnTo>
                  <a:pt x="7494614"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3225219" y="2712038"/>
            <a:ext cx="5106476" cy="702772"/>
            <a:chOff x="0" y="0"/>
            <a:chExt cx="1344916" cy="185092"/>
          </a:xfrm>
        </p:grpSpPr>
        <p:sp>
          <p:nvSpPr>
            <p:cNvPr name="Freeform 8" id="8"/>
            <p:cNvSpPr/>
            <p:nvPr/>
          </p:nvSpPr>
          <p:spPr>
            <a:xfrm flipH="false" flipV="false" rot="0">
              <a:off x="0" y="0"/>
              <a:ext cx="1344916" cy="185092"/>
            </a:xfrm>
            <a:custGeom>
              <a:avLst/>
              <a:gdLst/>
              <a:ahLst/>
              <a:cxnLst/>
              <a:rect r="r" b="b" t="t" l="l"/>
              <a:pathLst>
                <a:path h="185092" w="1344916">
                  <a:moveTo>
                    <a:pt x="77321" y="0"/>
                  </a:moveTo>
                  <a:lnTo>
                    <a:pt x="1267595" y="0"/>
                  </a:lnTo>
                  <a:cubicBezTo>
                    <a:pt x="1288101" y="0"/>
                    <a:pt x="1307768" y="8146"/>
                    <a:pt x="1322269" y="22647"/>
                  </a:cubicBezTo>
                  <a:cubicBezTo>
                    <a:pt x="1336769" y="37147"/>
                    <a:pt x="1344916" y="56814"/>
                    <a:pt x="1344916" y="77321"/>
                  </a:cubicBezTo>
                  <a:lnTo>
                    <a:pt x="1344916" y="107771"/>
                  </a:lnTo>
                  <a:cubicBezTo>
                    <a:pt x="1344916" y="150474"/>
                    <a:pt x="1310298" y="185092"/>
                    <a:pt x="1267595" y="185092"/>
                  </a:cubicBezTo>
                  <a:lnTo>
                    <a:pt x="77321" y="185092"/>
                  </a:lnTo>
                  <a:cubicBezTo>
                    <a:pt x="34618" y="185092"/>
                    <a:pt x="0" y="150474"/>
                    <a:pt x="0" y="107771"/>
                  </a:cubicBezTo>
                  <a:lnTo>
                    <a:pt x="0" y="77321"/>
                  </a:lnTo>
                  <a:cubicBezTo>
                    <a:pt x="0" y="34618"/>
                    <a:pt x="34618" y="0"/>
                    <a:pt x="77321" y="0"/>
                  </a:cubicBezTo>
                  <a:close/>
                </a:path>
              </a:pathLst>
            </a:custGeom>
            <a:solidFill>
              <a:srgbClr val="0CC0DF"/>
            </a:solidFill>
            <a:ln w="38100" cap="rnd">
              <a:solidFill>
                <a:srgbClr val="FFFFFF"/>
              </a:solidFill>
              <a:prstDash val="solid"/>
              <a:round/>
            </a:ln>
          </p:spPr>
        </p:sp>
        <p:sp>
          <p:nvSpPr>
            <p:cNvPr name="TextBox 9" id="9"/>
            <p:cNvSpPr txBox="true"/>
            <p:nvPr/>
          </p:nvSpPr>
          <p:spPr>
            <a:xfrm>
              <a:off x="0" y="-38100"/>
              <a:ext cx="1344916" cy="223192"/>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225219" y="2794184"/>
            <a:ext cx="6804137" cy="481329"/>
          </a:xfrm>
          <a:prstGeom prst="rect">
            <a:avLst/>
          </a:prstGeom>
        </p:spPr>
        <p:txBody>
          <a:bodyPr anchor="t" rtlCol="false" tIns="0" lIns="0" bIns="0" rIns="0">
            <a:spAutoFit/>
          </a:bodyPr>
          <a:lstStyle/>
          <a:p>
            <a:pPr algn="l" marL="604526" indent="-302263" lvl="1">
              <a:lnSpc>
                <a:spcPts val="3920"/>
              </a:lnSpc>
              <a:buFont typeface="Arial"/>
              <a:buChar char="•"/>
            </a:pPr>
            <a:r>
              <a:rPr lang="en-US" b="true" sz="2800">
                <a:solidFill>
                  <a:srgbClr val="FFFFFF"/>
                </a:solidFill>
                <a:latin typeface="Cormorant Garamond Bold"/>
                <a:ea typeface="Cormorant Garamond Bold"/>
                <a:cs typeface="Cormorant Garamond Bold"/>
                <a:sym typeface="Cormorant Garamond Bold"/>
              </a:rPr>
              <a:t>TRADE-OFFS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6868DE"/>
        </a:solidFill>
      </p:bgPr>
    </p:bg>
    <p:spTree>
      <p:nvGrpSpPr>
        <p:cNvPr id="1" name=""/>
        <p:cNvGrpSpPr/>
        <p:nvPr/>
      </p:nvGrpSpPr>
      <p:grpSpPr>
        <a:xfrm>
          <a:off x="0" y="0"/>
          <a:ext cx="0" cy="0"/>
          <a:chOff x="0" y="0"/>
          <a:chExt cx="0" cy="0"/>
        </a:xfrm>
      </p:grpSpPr>
      <p:sp>
        <p:nvSpPr>
          <p:cNvPr name="Freeform 2" id="2"/>
          <p:cNvSpPr/>
          <p:nvPr/>
        </p:nvSpPr>
        <p:spPr>
          <a:xfrm flipH="false" flipV="false" rot="0">
            <a:off x="260393" y="7355648"/>
            <a:ext cx="2467225" cy="2482742"/>
          </a:xfrm>
          <a:custGeom>
            <a:avLst/>
            <a:gdLst/>
            <a:ahLst/>
            <a:cxnLst/>
            <a:rect r="r" b="b" t="t" l="l"/>
            <a:pathLst>
              <a:path h="2482742" w="2467225">
                <a:moveTo>
                  <a:pt x="0" y="0"/>
                </a:moveTo>
                <a:lnTo>
                  <a:pt x="2467225" y="0"/>
                </a:lnTo>
                <a:lnTo>
                  <a:pt x="2467225" y="2482742"/>
                </a:lnTo>
                <a:lnTo>
                  <a:pt x="0" y="24827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0" y="0"/>
            <a:ext cx="5579390" cy="4114800"/>
          </a:xfrm>
          <a:custGeom>
            <a:avLst/>
            <a:gdLst/>
            <a:ahLst/>
            <a:cxnLst/>
            <a:rect r="r" b="b" t="t" l="l"/>
            <a:pathLst>
              <a:path h="4114800" w="5579390">
                <a:moveTo>
                  <a:pt x="0" y="4114800"/>
                </a:moveTo>
                <a:lnTo>
                  <a:pt x="5579390" y="4114800"/>
                </a:lnTo>
                <a:lnTo>
                  <a:pt x="5579390" y="0"/>
                </a:lnTo>
                <a:lnTo>
                  <a:pt x="0" y="0"/>
                </a:lnTo>
                <a:lnTo>
                  <a:pt x="0" y="411480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2054367" y="4373562"/>
            <a:ext cx="14179267" cy="2292351"/>
          </a:xfrm>
          <a:prstGeom prst="rect">
            <a:avLst/>
          </a:prstGeom>
        </p:spPr>
        <p:txBody>
          <a:bodyPr anchor="t" rtlCol="false" tIns="0" lIns="0" bIns="0" rIns="0">
            <a:spAutoFit/>
          </a:bodyPr>
          <a:lstStyle/>
          <a:p>
            <a:pPr algn="ctr">
              <a:lnSpc>
                <a:spcPts val="16000"/>
              </a:lnSpc>
            </a:pPr>
            <a:r>
              <a:rPr lang="en-US" sz="20000">
                <a:solidFill>
                  <a:srgbClr val="FFFFFF"/>
                </a:solidFill>
                <a:latin typeface="Rebel"/>
                <a:ea typeface="Rebel"/>
                <a:cs typeface="Rebel"/>
                <a:sym typeface="Rebel"/>
              </a:rPr>
              <a:t>Results</a:t>
            </a:r>
          </a:p>
        </p:txBody>
      </p:sp>
      <p:sp>
        <p:nvSpPr>
          <p:cNvPr name="Freeform 5" id="5"/>
          <p:cNvSpPr/>
          <p:nvPr/>
        </p:nvSpPr>
        <p:spPr>
          <a:xfrm flipH="true" flipV="false" rot="0">
            <a:off x="14313286" y="7355648"/>
            <a:ext cx="3974714" cy="2931352"/>
          </a:xfrm>
          <a:custGeom>
            <a:avLst/>
            <a:gdLst/>
            <a:ahLst/>
            <a:cxnLst/>
            <a:rect r="r" b="b" t="t" l="l"/>
            <a:pathLst>
              <a:path h="2931352" w="3974714">
                <a:moveTo>
                  <a:pt x="3974714" y="0"/>
                </a:moveTo>
                <a:lnTo>
                  <a:pt x="0" y="0"/>
                </a:lnTo>
                <a:lnTo>
                  <a:pt x="0" y="2931352"/>
                </a:lnTo>
                <a:lnTo>
                  <a:pt x="3974714" y="2931352"/>
                </a:lnTo>
                <a:lnTo>
                  <a:pt x="397471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630700" y="1491604"/>
            <a:ext cx="2467225" cy="2482742"/>
          </a:xfrm>
          <a:custGeom>
            <a:avLst/>
            <a:gdLst/>
            <a:ahLst/>
            <a:cxnLst/>
            <a:rect r="r" b="b" t="t" l="l"/>
            <a:pathLst>
              <a:path h="2482742" w="2467225">
                <a:moveTo>
                  <a:pt x="0" y="0"/>
                </a:moveTo>
                <a:lnTo>
                  <a:pt x="2467225" y="0"/>
                </a:lnTo>
                <a:lnTo>
                  <a:pt x="2467225" y="2482741"/>
                </a:lnTo>
                <a:lnTo>
                  <a:pt x="0" y="24827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DAHGpCfIGiw</dc:identifier>
  <dcterms:modified xsi:type="dcterms:W3CDTF">2011-08-01T06:04:30Z</dcterms:modified>
  <cp:revision>1</cp:revision>
  <dc:title>Project Presentation</dc:title>
</cp:coreProperties>
</file>
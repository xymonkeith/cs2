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5" r:id="rId3"/>
    <p:sldId id="257" r:id="rId4"/>
    <p:sldId id="264" r:id="rId5"/>
    <p:sldId id="258" r:id="rId6"/>
    <p:sldId id="259" r:id="rId7"/>
    <p:sldId id="261" r:id="rId8"/>
    <p:sldId id="266" r:id="rId9"/>
    <p:sldId id="267" r:id="rId10"/>
    <p:sldId id="268" r:id="rId11"/>
    <p:sldId id="269" r:id="rId12"/>
    <p:sldId id="263" r:id="rId13"/>
    <p:sldId id="262"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5C221B-81EA-22CF-CF47-EF9D19E1C2D7}" v="30" dt="2025-12-22T15:14:43.469"/>
    <p1510:client id="{3DCB8520-578C-0BAE-7F30-80AA094E2F53}" v="4" dt="2025-12-22T15:44:15.116"/>
    <p1510:client id="{8D8D70C4-6F45-96BB-3EF2-CE48AAC9312E}" v="16" dt="2025-12-23T04:08:37.5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8E535009-C9F9-461D-87D2-DA435E6510C9}" type="datetimeFigureOut">
              <a:rPr lang="en-PH" smtClean="0"/>
              <a:t>22/12/2025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F1F72B5-4FFF-4D2A-B7E8-BFFC76E20D54}" type="slidenum">
              <a:rPr lang="en-PH" smtClean="0"/>
              <a:t>‹#›</a:t>
            </a:fld>
            <a:endParaRPr lang="en-PH"/>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8E535009-C9F9-461D-87D2-DA435E6510C9}" type="datetimeFigureOut">
              <a:rPr lang="en-PH" smtClean="0"/>
              <a:t>22/12/2025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F1F72B5-4FFF-4D2A-B7E8-BFFC76E20D54}" type="slidenum">
              <a:rPr lang="en-PH" smtClean="0"/>
              <a:t>‹#›</a:t>
            </a:fld>
            <a:endParaRPr lang="en-PH"/>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535009-C9F9-461D-87D2-DA435E6510C9}" type="datetimeFigureOut">
              <a:rPr lang="en-PH" smtClean="0"/>
              <a:t>22/12/2025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F1F72B5-4FFF-4D2A-B7E8-BFFC76E20D54}" type="slidenum">
              <a:rPr lang="en-PH" smtClean="0"/>
              <a:t>‹#›</a:t>
            </a:fld>
            <a:endParaRPr lang="en-PH"/>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p:txBody>
          <a:bodyPr/>
          <a:lstStyle/>
          <a:p>
            <a:fld id="{8E535009-C9F9-461D-87D2-DA435E6510C9}" type="datetimeFigureOut">
              <a:rPr lang="en-PH" smtClean="0"/>
              <a:t>22/12/2025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FF1F72B5-4FFF-4D2A-B7E8-BFFC76E20D54}" type="slidenum">
              <a:rPr lang="en-PH" smtClean="0"/>
              <a:t>‹#›</a:t>
            </a:fld>
            <a:endParaRPr lang="en-PH"/>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p:txBody>
          <a:bodyPr/>
          <a:lstStyle/>
          <a:p>
            <a:fld id="{8E535009-C9F9-461D-87D2-DA435E6510C9}" type="datetimeFigureOut">
              <a:rPr lang="en-PH" smtClean="0"/>
              <a:t>22/12/2025</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FF1F72B5-4FFF-4D2A-B7E8-BFFC76E20D54}" type="slidenum">
              <a:rPr lang="en-PH" smtClean="0"/>
              <a:t>‹#›</a:t>
            </a:fld>
            <a:endParaRPr lang="en-PH"/>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8E535009-C9F9-461D-87D2-DA435E6510C9}" type="datetimeFigureOut">
              <a:rPr lang="en-PH" smtClean="0"/>
              <a:t>22/12/2025</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FF1F72B5-4FFF-4D2A-B7E8-BFFC76E20D54}" type="slidenum">
              <a:rPr lang="en-PH" smtClean="0"/>
              <a:t>‹#›</a:t>
            </a:fld>
            <a:endParaRPr lang="en-PH"/>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535009-C9F9-461D-87D2-DA435E6510C9}" type="datetimeFigureOut">
              <a:rPr lang="en-PH" smtClean="0"/>
              <a:t>22/12/2025</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FF1F72B5-4FFF-4D2A-B7E8-BFFC76E20D54}" type="slidenum">
              <a:rPr lang="en-PH" smtClean="0"/>
              <a:t>‹#›</a:t>
            </a:fld>
            <a:endParaRPr lang="en-PH"/>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535009-C9F9-461D-87D2-DA435E6510C9}" type="datetimeFigureOut">
              <a:rPr lang="en-PH" smtClean="0"/>
              <a:t>22/12/2025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FF1F72B5-4FFF-4D2A-B7E8-BFFC76E20D54}" type="slidenum">
              <a:rPr lang="en-PH" smtClean="0"/>
              <a:t>‹#›</a:t>
            </a:fld>
            <a:endParaRPr lang="en-PH"/>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535009-C9F9-461D-87D2-DA435E6510C9}" type="datetimeFigureOut">
              <a:rPr lang="en-PH" smtClean="0"/>
              <a:t>22/12/2025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FF1F72B5-4FFF-4D2A-B7E8-BFFC76E20D54}" type="slidenum">
              <a:rPr lang="en-PH" smtClean="0"/>
              <a:t>‹#›</a:t>
            </a:fld>
            <a:endParaRPr lang="en-PH"/>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8E535009-C9F9-461D-87D2-DA435E6510C9}" type="datetimeFigureOut">
              <a:rPr lang="en-PH" smtClean="0"/>
              <a:t>22/12/2025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F1F72B5-4FFF-4D2A-B7E8-BFFC76E20D54}" type="slidenum">
              <a:rPr lang="en-PH" smtClean="0"/>
              <a:t>‹#›</a:t>
            </a:fld>
            <a:endParaRPr lang="en-PH"/>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8E535009-C9F9-461D-87D2-DA435E6510C9}" type="datetimeFigureOut">
              <a:rPr lang="en-PH" smtClean="0"/>
              <a:t>22/12/2025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F1F72B5-4FFF-4D2A-B7E8-BFFC76E20D54}" type="slidenum">
              <a:rPr lang="en-PH" smtClean="0"/>
              <a:t>‹#›</a:t>
            </a:fld>
            <a:endParaRPr lang="en-P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535009-C9F9-461D-87D2-DA435E6510C9}" type="datetimeFigureOut">
              <a:rPr lang="en-PH" smtClean="0"/>
              <a:t>22/12/2025</a:t>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1F72B5-4FFF-4D2A-B7E8-BFFC76E20D54}" type="slidenum">
              <a:rPr lang="en-PH" smtClean="0"/>
              <a:t>‹#›</a:t>
            </a:fld>
            <a:endParaRPr lang="en-PH"/>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pshs.edu.ph/pshs-curriculum2024/?utm_source=chatgpt.com" TargetMode="External"/><Relationship Id="rId2" Type="http://schemas.openxmlformats.org/officeDocument/2006/relationships/hyperlink" Target="https://www.verywellmind.com/gardners-theory-of-multiple-intelligences-2795161?utm_source=chatgpt.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Puzzling </a:t>
            </a:r>
            <a:r>
              <a:rPr lang="en-PH" altLang="en-US"/>
              <a:t>O</a:t>
            </a:r>
            <a:r>
              <a:rPr lang="en-US"/>
              <a:t>ut Intelligence</a:t>
            </a:r>
            <a:endParaRPr lang="en-PH"/>
          </a:p>
        </p:txBody>
      </p:sp>
      <p:sp>
        <p:nvSpPr>
          <p:cNvPr id="3" name="Subtitle 2"/>
          <p:cNvSpPr>
            <a:spLocks noGrp="1"/>
          </p:cNvSpPr>
          <p:nvPr>
            <p:ph type="subTitle" idx="1"/>
          </p:nvPr>
        </p:nvSpPr>
        <p:spPr/>
        <p:txBody>
          <a:bodyPr/>
          <a:lstStyle/>
          <a:p>
            <a:r>
              <a:rPr lang="en-PH"/>
              <a:t>8-Sampaguita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altLang="en-US"/>
              <a:t>Members:</a:t>
            </a:r>
          </a:p>
        </p:txBody>
      </p:sp>
      <p:pic>
        <p:nvPicPr>
          <p:cNvPr id="14" name="Content Placeholder 13" descr="b9c20faa-2776-43c1-891d-0d3f2e9179be"/>
          <p:cNvPicPr>
            <a:picLocks noGrp="1" noChangeAspect="1"/>
          </p:cNvPicPr>
          <p:nvPr>
            <p:ph idx="1"/>
          </p:nvPr>
        </p:nvPicPr>
        <p:blipFill>
          <a:blip r:embed="rId2"/>
          <a:stretch>
            <a:fillRect/>
          </a:stretch>
        </p:blipFill>
        <p:spPr>
          <a:xfrm>
            <a:off x="2844800" y="1720850"/>
            <a:ext cx="2284730" cy="3047365"/>
          </a:xfrm>
          <a:prstGeom prst="rect">
            <a:avLst/>
          </a:prstGeom>
        </p:spPr>
      </p:pic>
      <p:pic>
        <p:nvPicPr>
          <p:cNvPr id="15" name="Picture 14" descr="2620e276-2d9e-4472-b35f-8ce90d262be1"/>
          <p:cNvPicPr>
            <a:picLocks noChangeAspect="1"/>
          </p:cNvPicPr>
          <p:nvPr/>
        </p:nvPicPr>
        <p:blipFill>
          <a:blip r:embed="rId3"/>
          <a:srcRect l="24929" t="9332" r="7840" b="5667"/>
          <a:stretch>
            <a:fillRect/>
          </a:stretch>
        </p:blipFill>
        <p:spPr>
          <a:xfrm>
            <a:off x="6562725" y="1910080"/>
            <a:ext cx="3242310" cy="2733040"/>
          </a:xfrm>
          <a:prstGeom prst="rect">
            <a:avLst/>
          </a:prstGeom>
        </p:spPr>
      </p:pic>
      <p:sp>
        <p:nvSpPr>
          <p:cNvPr id="16" name="Text Box 15"/>
          <p:cNvSpPr txBox="1"/>
          <p:nvPr/>
        </p:nvSpPr>
        <p:spPr>
          <a:xfrm>
            <a:off x="2952750" y="5290820"/>
            <a:ext cx="2673985" cy="460375"/>
          </a:xfrm>
          <a:prstGeom prst="rect">
            <a:avLst/>
          </a:prstGeom>
          <a:noFill/>
        </p:spPr>
        <p:txBody>
          <a:bodyPr wrap="square" rtlCol="0">
            <a:spAutoFit/>
          </a:bodyPr>
          <a:lstStyle/>
          <a:p>
            <a:r>
              <a:rPr lang="en-PH" altLang="en-US" sz="2400"/>
              <a:t>Cuddy Esmeres</a:t>
            </a:r>
          </a:p>
        </p:txBody>
      </p:sp>
      <p:sp>
        <p:nvSpPr>
          <p:cNvPr id="18" name="Text Box 17"/>
          <p:cNvSpPr txBox="1"/>
          <p:nvPr/>
        </p:nvSpPr>
        <p:spPr>
          <a:xfrm>
            <a:off x="6648450" y="5290820"/>
            <a:ext cx="2882900" cy="460375"/>
          </a:xfrm>
          <a:prstGeom prst="rect">
            <a:avLst/>
          </a:prstGeom>
          <a:noFill/>
        </p:spPr>
        <p:txBody>
          <a:bodyPr wrap="square" rtlCol="0">
            <a:spAutoFit/>
          </a:bodyPr>
          <a:lstStyle/>
          <a:p>
            <a:r>
              <a:rPr lang="en-PH" altLang="en-US" sz="2400"/>
              <a:t>Xymon Malquisto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4000" y="2575283"/>
            <a:ext cx="9144000" cy="2677656"/>
          </a:xfrm>
          <a:prstGeom prst="rect">
            <a:avLst/>
          </a:prstGeom>
          <a:noFill/>
        </p:spPr>
        <p:txBody>
          <a:bodyPr wrap="square">
            <a:spAutoFit/>
          </a:bodyPr>
          <a:lstStyle/>
          <a:p>
            <a:r>
              <a:rPr lang="en-US" sz="2800"/>
              <a:t>PSHS’s rigorous academic environment often leads students to compare test scores, causing stress, discouragement, and unnecessary competition. </a:t>
            </a:r>
            <a:r>
              <a:rPr lang="en-US" sz="2800" b="1"/>
              <a:t>Puzzling Out Intelligence</a:t>
            </a:r>
            <a:r>
              <a:rPr lang="en-US" sz="2800"/>
              <a:t> aims to reduce this pressure by using puzzles that highlight </a:t>
            </a:r>
            <a:r>
              <a:rPr lang="en-US" sz="2800" b="1"/>
              <a:t>Gardner’s Multiple Intelligences</a:t>
            </a:r>
            <a:r>
              <a:rPr lang="en-US" sz="2800"/>
              <a:t>, showing students that intelligence is diverse and not limited to academic grades.</a:t>
            </a:r>
          </a:p>
        </p:txBody>
      </p:sp>
      <p:sp>
        <p:nvSpPr>
          <p:cNvPr id="7" name="TextBox 6"/>
          <p:cNvSpPr txBox="1"/>
          <p:nvPr/>
        </p:nvSpPr>
        <p:spPr>
          <a:xfrm>
            <a:off x="504091" y="642207"/>
            <a:ext cx="6096000" cy="646331"/>
          </a:xfrm>
          <a:prstGeom prst="rect">
            <a:avLst/>
          </a:prstGeom>
          <a:noFill/>
        </p:spPr>
        <p:txBody>
          <a:bodyPr wrap="square">
            <a:spAutoFit/>
          </a:bodyPr>
          <a:lstStyle/>
          <a:p>
            <a:r>
              <a:rPr lang="en-US" sz="3600"/>
              <a:t>Problem Statement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933450" y="674370"/>
            <a:ext cx="4064000" cy="460375"/>
          </a:xfrm>
          <a:prstGeom prst="rect">
            <a:avLst/>
          </a:prstGeom>
          <a:noFill/>
        </p:spPr>
        <p:txBody>
          <a:bodyPr wrap="square" rtlCol="0">
            <a:spAutoFit/>
          </a:bodyPr>
          <a:lstStyle/>
          <a:p>
            <a:r>
              <a:rPr lang="en-PH" altLang="en-US" sz="2400"/>
              <a:t>Objectives:</a:t>
            </a:r>
          </a:p>
        </p:txBody>
      </p:sp>
      <p:sp>
        <p:nvSpPr>
          <p:cNvPr id="3" name="Text Box 2"/>
          <p:cNvSpPr txBox="1"/>
          <p:nvPr/>
        </p:nvSpPr>
        <p:spPr>
          <a:xfrm>
            <a:off x="2266950" y="1582420"/>
            <a:ext cx="6788150" cy="4399915"/>
          </a:xfrm>
          <a:prstGeom prst="rect">
            <a:avLst/>
          </a:prstGeom>
          <a:noFill/>
        </p:spPr>
        <p:txBody>
          <a:bodyPr wrap="square" rtlCol="0">
            <a:spAutoFit/>
          </a:bodyPr>
          <a:lstStyle/>
          <a:p>
            <a:r>
              <a:rPr lang="en-US" altLang="en-US" sz="2000"/>
              <a:t>1. To identify the user’s strengths across</a:t>
            </a:r>
            <a:br>
              <a:rPr lang="en-US" altLang="en-US" sz="2000"/>
            </a:br>
            <a:r>
              <a:rPr lang="en-US" altLang="en-US" sz="2000"/>
              <a:t>the 8 Multiple Intelligences</a:t>
            </a:r>
            <a:r>
              <a:rPr lang="en-PH" altLang="en-US" sz="2000"/>
              <a:t>.</a:t>
            </a:r>
            <a:br>
              <a:rPr lang="en-PH" altLang="en-US" sz="2000"/>
            </a:br>
            <a:br>
              <a:rPr lang="en-PH" altLang="en-US" sz="2000"/>
            </a:br>
            <a:r>
              <a:rPr lang="en-US" altLang="en-US" sz="2000"/>
              <a:t>2. To reduce academic-grade pressure by showing that intelligence comes in many forms</a:t>
            </a:r>
            <a:br>
              <a:rPr lang="en-PH" altLang="en-US" sz="2000"/>
            </a:br>
            <a:br>
              <a:rPr lang="en-PH" altLang="en-US" sz="2000"/>
            </a:br>
            <a:r>
              <a:rPr lang="en-US" altLang="en-US" sz="2000"/>
              <a:t>3. To allow users to see which intelligences they can improve</a:t>
            </a:r>
            <a:br>
              <a:rPr lang="en-PH" altLang="en-US" sz="2000"/>
            </a:br>
            <a:br>
              <a:rPr lang="en-PH" altLang="en-US" sz="2000"/>
            </a:br>
            <a:r>
              <a:rPr lang="en-PH" altLang="en-US" sz="2000"/>
              <a:t>4.</a:t>
            </a:r>
            <a:r>
              <a:rPr lang="en-US" altLang="en-US" sz="2000"/>
              <a:t> To provide a simple, user-friendly puzzle test</a:t>
            </a:r>
            <a:br>
              <a:rPr lang="en-US" altLang="en-US" sz="2000"/>
            </a:br>
            <a:br>
              <a:rPr lang="en-US" altLang="en-US" sz="2000"/>
            </a:br>
            <a:r>
              <a:rPr lang="en-PH" altLang="en-US" sz="2000"/>
              <a:t>5. </a:t>
            </a:r>
            <a:r>
              <a:rPr lang="en-US" altLang="en-US" sz="2000"/>
              <a:t>To show that being “smart” is not just about grade</a:t>
            </a:r>
            <a:r>
              <a:rPr lang="en-PH" altLang="en-US" sz="2000"/>
              <a:t>, t</a:t>
            </a:r>
            <a:r>
              <a:rPr lang="en-US" altLang="en-US" sz="2000"/>
              <a:t>o make students feel more confident by letting them see their strengths</a:t>
            </a:r>
            <a:r>
              <a:rPr lang="en-PH" altLang="en-US" sz="2000"/>
              <a:t>, and to lessen stress, and pressure among them.</a:t>
            </a:r>
            <a:br>
              <a:rPr lang="en-PH" altLang="en-US" sz="2000"/>
            </a:br>
            <a:endParaRPr lang="en-PH" altLang="en-US" sz="20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88123" y="1871898"/>
            <a:ext cx="9144000" cy="4154984"/>
          </a:xfrm>
          <a:prstGeom prst="rect">
            <a:avLst/>
          </a:prstGeom>
          <a:noFill/>
        </p:spPr>
        <p:txBody>
          <a:bodyPr wrap="square">
            <a:spAutoFit/>
          </a:bodyPr>
          <a:lstStyle/>
          <a:p>
            <a:r>
              <a:rPr lang="en-US" sz="2400"/>
              <a:t>According to Howard Gardner (1983, as cited in Cherry, 2025), intelligence is not a one-size-fits-all concept. Gardner explained that people have multiple intelligences, meaning individuals solve problems and learn in different ways, not just through logic, math, or traditional academic skills.</a:t>
            </a:r>
          </a:p>
          <a:p>
            <a:r>
              <a:rPr lang="en-US" sz="2400"/>
              <a:t>This idea connects well with the PSHS STEM curriculum because students are expected to use different kinds of thinking. They analyze problems, think creatively, design experiments, communicate ideas, collaborate with others, and apply knowledge to real situations. Different students are strong in different areas, and PSHS encourages growth in all of these skills.</a:t>
            </a:r>
          </a:p>
        </p:txBody>
      </p:sp>
      <p:sp>
        <p:nvSpPr>
          <p:cNvPr id="7" name="TextBox 6"/>
          <p:cNvSpPr txBox="1"/>
          <p:nvPr/>
        </p:nvSpPr>
        <p:spPr>
          <a:xfrm>
            <a:off x="504091" y="642207"/>
            <a:ext cx="6096000" cy="646331"/>
          </a:xfrm>
          <a:prstGeom prst="rect">
            <a:avLst/>
          </a:prstGeom>
          <a:noFill/>
        </p:spPr>
        <p:txBody>
          <a:bodyPr wrap="square">
            <a:spAutoFit/>
          </a:bodyPr>
          <a:lstStyle/>
          <a:p>
            <a:r>
              <a:rPr lang="en-US" sz="3600"/>
              <a:t>Why?</a:t>
            </a:r>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70184" y="1508483"/>
            <a:ext cx="9144000" cy="4893647"/>
          </a:xfrm>
          <a:prstGeom prst="rect">
            <a:avLst/>
          </a:prstGeom>
          <a:noFill/>
        </p:spPr>
        <p:txBody>
          <a:bodyPr wrap="square">
            <a:spAutoFit/>
          </a:bodyPr>
          <a:lstStyle/>
          <a:p>
            <a:r>
              <a:rPr lang="en-US" sz="2400"/>
              <a:t>Our project will create a program where the user can take a puzzle-based test. Each puzzle is designed to measure a specific type of intelligence based on Gardner’s theory. For example, logical puzzles measure logical mathematical skills, visual patterns measure spatial intelligence, word-based riddles measure linguistic intelligence, and so on.</a:t>
            </a:r>
          </a:p>
          <a:p>
            <a:r>
              <a:rPr lang="en-US" sz="2400"/>
              <a:t>As the user answers each puzzle, the system records their performance. After the session, the program calculates the user’s scores across all the different intelligences. This allows the system to identify which areas are the person’s strongest and which areas may need improvement.</a:t>
            </a:r>
          </a:p>
          <a:p>
            <a:r>
              <a:rPr lang="en-US" sz="2400"/>
              <a:t>The goal is to give students a clearer picture of their abilities, showing that their strengths may appear in many forms and are not limited to traditional academic scores.</a:t>
            </a:r>
          </a:p>
        </p:txBody>
      </p:sp>
      <p:sp>
        <p:nvSpPr>
          <p:cNvPr id="7" name="TextBox 6"/>
          <p:cNvSpPr txBox="1"/>
          <p:nvPr/>
        </p:nvSpPr>
        <p:spPr>
          <a:xfrm>
            <a:off x="504091" y="642207"/>
            <a:ext cx="6096000" cy="646331"/>
          </a:xfrm>
          <a:prstGeom prst="rect">
            <a:avLst/>
          </a:prstGeom>
          <a:noFill/>
        </p:spPr>
        <p:txBody>
          <a:bodyPr wrap="square">
            <a:spAutoFit/>
          </a:bodyPr>
          <a:lstStyle/>
          <a:p>
            <a:r>
              <a:rPr lang="en-US" sz="3600"/>
              <a:t>How?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962745" y="2341103"/>
            <a:ext cx="9887044" cy="1323439"/>
          </a:xfrm>
          <a:prstGeom prst="rect">
            <a:avLst/>
          </a:prstGeom>
          <a:noFill/>
        </p:spPr>
        <p:txBody>
          <a:bodyPr wrap="square" lIns="91440" tIns="45720" rIns="91440" bIns="45720" rtlCol="0" anchor="t">
            <a:spAutoFit/>
          </a:bodyPr>
          <a:lstStyle/>
          <a:p>
            <a:r>
              <a:rPr lang="en-PH" altLang="en-US" sz="8000"/>
              <a:t>            Flowchart:</a:t>
            </a:r>
            <a:endParaRPr lang="en-PH" altLang="en-US" sz="8000">
              <a:ea typeface="Calibri"/>
              <a:cs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200">
        <p14:doors dir="ver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diagram&#10;&#10;AI-generated content may be incorrect.">
            <a:extLst>
              <a:ext uri="{FF2B5EF4-FFF2-40B4-BE49-F238E27FC236}">
                <a16:creationId xmlns:a16="http://schemas.microsoft.com/office/drawing/2014/main" id="{AAC01849-827A-8EAA-A8C2-33FD49CAC37B}"/>
              </a:ext>
            </a:extLst>
          </p:cNvPr>
          <p:cNvPicPr>
            <a:picLocks noChangeAspect="1"/>
          </p:cNvPicPr>
          <p:nvPr/>
        </p:nvPicPr>
        <p:blipFill>
          <a:blip r:embed="rId2"/>
          <a:stretch>
            <a:fillRect/>
          </a:stretch>
        </p:blipFill>
        <p:spPr>
          <a:xfrm>
            <a:off x="4832078" y="0"/>
            <a:ext cx="2372861" cy="6858000"/>
          </a:xfrm>
          <a:prstGeom prst="rect">
            <a:avLst/>
          </a:prstGeom>
        </p:spPr>
      </p:pic>
    </p:spTree>
    <p:extLst>
      <p:ext uri="{BB962C8B-B14F-4D97-AF65-F5344CB8AC3E}">
        <p14:creationId xmlns:p14="http://schemas.microsoft.com/office/powerpoint/2010/main" val="2775292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bar chart&#10;&#10;AI-generated content may be incorrect.">
            <a:extLst>
              <a:ext uri="{FF2B5EF4-FFF2-40B4-BE49-F238E27FC236}">
                <a16:creationId xmlns:a16="http://schemas.microsoft.com/office/drawing/2014/main" id="{4F24F560-7E55-B776-DA59-A2088C0CB0E4}"/>
              </a:ext>
            </a:extLst>
          </p:cNvPr>
          <p:cNvPicPr>
            <a:picLocks noChangeAspect="1"/>
          </p:cNvPicPr>
          <p:nvPr/>
        </p:nvPicPr>
        <p:blipFill>
          <a:blip r:embed="rId2"/>
          <a:stretch>
            <a:fillRect/>
          </a:stretch>
        </p:blipFill>
        <p:spPr>
          <a:xfrm>
            <a:off x="4552280" y="0"/>
            <a:ext cx="3087439" cy="6858000"/>
          </a:xfrm>
          <a:prstGeom prst="rect">
            <a:avLst/>
          </a:prstGeom>
        </p:spPr>
      </p:pic>
    </p:spTree>
    <p:extLst>
      <p:ext uri="{BB962C8B-B14F-4D97-AF65-F5344CB8AC3E}">
        <p14:creationId xmlns:p14="http://schemas.microsoft.com/office/powerpoint/2010/main" val="2185292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flowchart&#10;&#10;AI-generated content may be incorrect.">
            <a:extLst>
              <a:ext uri="{FF2B5EF4-FFF2-40B4-BE49-F238E27FC236}">
                <a16:creationId xmlns:a16="http://schemas.microsoft.com/office/drawing/2014/main" id="{BC8EF387-DC97-3757-0572-F3661C160798}"/>
              </a:ext>
            </a:extLst>
          </p:cNvPr>
          <p:cNvPicPr>
            <a:picLocks noChangeAspect="1"/>
          </p:cNvPicPr>
          <p:nvPr/>
        </p:nvPicPr>
        <p:blipFill>
          <a:blip r:embed="rId2"/>
          <a:stretch>
            <a:fillRect/>
          </a:stretch>
        </p:blipFill>
        <p:spPr>
          <a:xfrm>
            <a:off x="4552280" y="0"/>
            <a:ext cx="3087439" cy="6858000"/>
          </a:xfrm>
          <a:prstGeom prst="rect">
            <a:avLst/>
          </a:prstGeom>
        </p:spPr>
      </p:pic>
    </p:spTree>
    <p:extLst>
      <p:ext uri="{BB962C8B-B14F-4D97-AF65-F5344CB8AC3E}">
        <p14:creationId xmlns:p14="http://schemas.microsoft.com/office/powerpoint/2010/main" val="991814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flowchart&#10;&#10;AI-generated content may be incorrect.">
            <a:extLst>
              <a:ext uri="{FF2B5EF4-FFF2-40B4-BE49-F238E27FC236}">
                <a16:creationId xmlns:a16="http://schemas.microsoft.com/office/drawing/2014/main" id="{DB63FEF2-B8ED-1B94-18E2-83C7F113A61E}"/>
              </a:ext>
            </a:extLst>
          </p:cNvPr>
          <p:cNvPicPr>
            <a:picLocks noChangeAspect="1"/>
          </p:cNvPicPr>
          <p:nvPr/>
        </p:nvPicPr>
        <p:blipFill>
          <a:blip r:embed="rId2"/>
          <a:stretch>
            <a:fillRect/>
          </a:stretch>
        </p:blipFill>
        <p:spPr>
          <a:xfrm>
            <a:off x="4552280" y="0"/>
            <a:ext cx="3087439" cy="6858000"/>
          </a:xfrm>
          <a:prstGeom prst="rect">
            <a:avLst/>
          </a:prstGeom>
        </p:spPr>
      </p:pic>
    </p:spTree>
    <p:extLst>
      <p:ext uri="{BB962C8B-B14F-4D97-AF65-F5344CB8AC3E}">
        <p14:creationId xmlns:p14="http://schemas.microsoft.com/office/powerpoint/2010/main" val="2983426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064000" y="1395095"/>
            <a:ext cx="4064000" cy="5015865"/>
          </a:xfrm>
          <a:prstGeom prst="rect">
            <a:avLst/>
          </a:prstGeom>
          <a:noFill/>
        </p:spPr>
        <p:txBody>
          <a:bodyPr wrap="square" rtlCol="0">
            <a:spAutoFit/>
          </a:bodyPr>
          <a:lstStyle/>
          <a:p>
            <a:r>
              <a:rPr lang="en-PH" altLang="en-US" sz="2000"/>
              <a:t>Title: Puzzling Out Intelligence</a:t>
            </a:r>
            <a:br>
              <a:rPr lang="en-PH" altLang="en-US" sz="2000"/>
            </a:br>
            <a:r>
              <a:rPr lang="en-PH" altLang="en-US" sz="2000"/>
              <a:t>Username: Cuddy Esmeres</a:t>
            </a:r>
            <a:br>
              <a:rPr lang="en-PH" altLang="en-US" sz="2000"/>
            </a:br>
            <a:r>
              <a:rPr lang="en-PH" altLang="en-US" sz="2000"/>
              <a:t>Date(MM/DD/YYYY): 11/26/2025</a:t>
            </a:r>
            <a:br>
              <a:rPr lang="en-PH" altLang="en-US" sz="2000"/>
            </a:br>
            <a:br>
              <a:rPr lang="en-PH" altLang="en-US" sz="2000"/>
            </a:br>
            <a:r>
              <a:rPr lang="en-PH" altLang="en-US" sz="2000"/>
              <a:t>Puzzle 1</a:t>
            </a:r>
            <a:r>
              <a:rPr lang="en-US" altLang="en-US" sz="2000"/>
              <a:t> – Bodily-Kinesthetic Intelligence</a:t>
            </a:r>
          </a:p>
          <a:p>
            <a:endParaRPr lang="en-US" altLang="en-US" sz="2000"/>
          </a:p>
          <a:p>
            <a:r>
              <a:rPr lang="en-US" altLang="en-US" sz="2000"/>
              <a:t>Question: Which activity requires the most coordination? (A. Typing, B. Dancing, C. Sitting)</a:t>
            </a:r>
          </a:p>
          <a:p>
            <a:r>
              <a:rPr lang="en-US" altLang="en-US" sz="2000"/>
              <a:t>User Input: B</a:t>
            </a:r>
          </a:p>
          <a:p>
            <a:r>
              <a:rPr lang="en-PH" altLang="en-US" sz="2000"/>
              <a:t>Correct!</a:t>
            </a:r>
            <a:br>
              <a:rPr lang="en-PH" altLang="en-US" sz="2000"/>
            </a:br>
            <a:br>
              <a:rPr lang="en-PH" altLang="en-US" sz="2000"/>
            </a:br>
            <a:r>
              <a:rPr lang="en-PH" altLang="en-US" sz="2000"/>
              <a:t>...</a:t>
            </a:r>
            <a:br>
              <a:rPr lang="en-PH" altLang="en-US" sz="2000"/>
            </a:br>
            <a:br>
              <a:rPr lang="en-PH" altLang="en-US" sz="2000"/>
            </a:br>
            <a:endParaRPr lang="en-PH" altLang="en-US" sz="2000"/>
          </a:p>
        </p:txBody>
      </p:sp>
      <p:sp>
        <p:nvSpPr>
          <p:cNvPr id="4" name="Text Box 3"/>
          <p:cNvSpPr txBox="1"/>
          <p:nvPr/>
        </p:nvSpPr>
        <p:spPr>
          <a:xfrm>
            <a:off x="790575" y="709295"/>
            <a:ext cx="4064000" cy="460375"/>
          </a:xfrm>
          <a:prstGeom prst="rect">
            <a:avLst/>
          </a:prstGeom>
          <a:noFill/>
        </p:spPr>
        <p:txBody>
          <a:bodyPr wrap="square" rtlCol="0">
            <a:spAutoFit/>
          </a:bodyPr>
          <a:lstStyle/>
          <a:p>
            <a:r>
              <a:rPr lang="en-PH" altLang="en-US" sz="2400"/>
              <a:t>Example flow:</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072890" y="112395"/>
            <a:ext cx="4015740" cy="6746240"/>
          </a:xfrm>
          <a:prstGeom prst="rect">
            <a:avLst/>
          </a:prstGeom>
          <a:noFill/>
        </p:spPr>
        <p:txBody>
          <a:bodyPr wrap="square" lIns="91440" tIns="45720" rIns="91440" bIns="45720" rtlCol="0" anchor="t">
            <a:noAutofit/>
          </a:bodyPr>
          <a:lstStyle/>
          <a:p>
            <a:r>
              <a:rPr lang="en-US" altLang="en-US" sz="1600" dirty="0"/>
              <a:t>Summary</a:t>
            </a:r>
            <a:r>
              <a:rPr lang="en-PH" altLang="en-US" sz="1600" dirty="0"/>
              <a:t>:</a:t>
            </a:r>
            <a:endParaRPr lang="en-US" altLang="en-US" sz="1600" dirty="0"/>
          </a:p>
          <a:p>
            <a:r>
              <a:rPr lang="en-US" altLang="en-US" sz="1600" dirty="0"/>
              <a:t>User: </a:t>
            </a:r>
            <a:r>
              <a:rPr lang="en-PH" altLang="en-US" sz="1600" dirty="0"/>
              <a:t>Cuddy </a:t>
            </a:r>
            <a:r>
              <a:rPr lang="en-PH" altLang="en-US" sz="1600" dirty="0" err="1"/>
              <a:t>Esmeres</a:t>
            </a:r>
            <a:endParaRPr lang="en-US" altLang="en-US" sz="1600" dirty="0" err="1"/>
          </a:p>
          <a:p>
            <a:r>
              <a:rPr lang="en-US" altLang="en-US" sz="1600" dirty="0"/>
              <a:t>Date: </a:t>
            </a:r>
            <a:r>
              <a:rPr lang="en-PH" altLang="en-US" sz="1600" dirty="0"/>
              <a:t>11/26/2025</a:t>
            </a:r>
            <a:br>
              <a:rPr lang="en-US" altLang="en-US" sz="1600" dirty="0"/>
            </a:br>
            <a:endParaRPr lang="en-US" altLang="en-US" sz="1600"/>
          </a:p>
          <a:p>
            <a:r>
              <a:rPr lang="en-US" altLang="en-US" sz="1600" dirty="0"/>
              <a:t>Results:</a:t>
            </a:r>
            <a:endParaRPr lang="en-US" altLang="en-US" sz="1600" dirty="0">
              <a:ea typeface="Calibri"/>
              <a:cs typeface="Calibri"/>
            </a:endParaRPr>
          </a:p>
          <a:p>
            <a:r>
              <a:rPr lang="en-US" altLang="en-US" sz="1600" dirty="0"/>
              <a:t>Logical-Mathematical Intelligence: 7/10</a:t>
            </a:r>
            <a:endParaRPr lang="en-US" altLang="en-US" sz="1600" dirty="0">
              <a:ea typeface="Calibri"/>
              <a:cs typeface="Calibri"/>
            </a:endParaRPr>
          </a:p>
          <a:p>
            <a:r>
              <a:rPr lang="en-US" altLang="en-US" sz="1600" dirty="0"/>
              <a:t>Linguistic Intelligence: 6/10</a:t>
            </a:r>
            <a:br>
              <a:rPr lang="en-US" altLang="en-US" sz="1600" dirty="0"/>
            </a:br>
            <a:r>
              <a:rPr lang="en-US" altLang="en-US" sz="1600" dirty="0"/>
              <a:t>Spatial Intelligence: 9/10</a:t>
            </a:r>
            <a:endParaRPr lang="en-US" altLang="en-US" sz="1600" dirty="0">
              <a:ea typeface="Calibri"/>
              <a:cs typeface="Calibri"/>
            </a:endParaRPr>
          </a:p>
          <a:p>
            <a:r>
              <a:rPr lang="en-US" altLang="en-US" sz="1600" dirty="0"/>
              <a:t>Musical Intelligence: 4/10</a:t>
            </a:r>
            <a:br>
              <a:rPr lang="en-US" altLang="en-US" sz="1600" dirty="0"/>
            </a:br>
            <a:r>
              <a:rPr lang="en-US" altLang="en-US" sz="1600" dirty="0"/>
              <a:t>Bodily-Kinesthetic Intelligence: 8/10</a:t>
            </a:r>
            <a:endParaRPr lang="en-US" altLang="en-US" sz="1600" dirty="0">
              <a:ea typeface="Calibri"/>
              <a:cs typeface="Calibri"/>
            </a:endParaRPr>
          </a:p>
          <a:p>
            <a:r>
              <a:rPr lang="en-US" altLang="en-US" sz="1600" dirty="0"/>
              <a:t>Interpersonal Intelligence: 5/10</a:t>
            </a:r>
            <a:endParaRPr lang="en-US" altLang="en-US" sz="1600" dirty="0">
              <a:ea typeface="Calibri"/>
              <a:cs typeface="Calibri"/>
            </a:endParaRPr>
          </a:p>
          <a:p>
            <a:r>
              <a:rPr lang="en-US" altLang="en-US" sz="1600" dirty="0"/>
              <a:t>Intrapersonal Intelligence: 6/10</a:t>
            </a:r>
            <a:endParaRPr lang="en-US" altLang="en-US" sz="1600" dirty="0">
              <a:ea typeface="Calibri"/>
              <a:cs typeface="Calibri"/>
            </a:endParaRPr>
          </a:p>
          <a:p>
            <a:r>
              <a:rPr lang="en-US" altLang="en-US" sz="1600" dirty="0"/>
              <a:t>Naturalistic Intelligence: 3/10</a:t>
            </a:r>
            <a:br>
              <a:rPr lang="en-US" altLang="en-US" sz="1600" dirty="0"/>
            </a:br>
            <a:endParaRPr lang="en-US" altLang="en-US" sz="1600" dirty="0"/>
          </a:p>
          <a:p>
            <a:br>
              <a:rPr lang="en-US" sz="1600" dirty="0"/>
            </a:br>
            <a:r>
              <a:rPr lang="en-PH" altLang="en-US" sz="1600" dirty="0"/>
              <a:t>Thank you!</a:t>
            </a:r>
            <a:endParaRPr lang="en-PH" altLang="en-US" sz="1600" dirty="0">
              <a:ea typeface="Calibri"/>
              <a:cs typeface="Calibri"/>
            </a:endParaRPr>
          </a:p>
        </p:txBody>
      </p:sp>
      <p:sp>
        <p:nvSpPr>
          <p:cNvPr id="3" name="Text Box 2"/>
          <p:cNvSpPr txBox="1"/>
          <p:nvPr/>
        </p:nvSpPr>
        <p:spPr>
          <a:xfrm>
            <a:off x="163830" y="112395"/>
            <a:ext cx="4064000" cy="460375"/>
          </a:xfrm>
          <a:prstGeom prst="rect">
            <a:avLst/>
          </a:prstGeom>
          <a:noFill/>
        </p:spPr>
        <p:txBody>
          <a:bodyPr wrap="square" rtlCol="0">
            <a:spAutoFit/>
          </a:bodyPr>
          <a:lstStyle/>
          <a:p>
            <a:r>
              <a:rPr lang="en-PH" altLang="en-US" sz="2400"/>
              <a:t>Example Output:</a:t>
            </a:r>
          </a:p>
        </p:txBody>
      </p:sp>
    </p:spTree>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91661" y="599779"/>
            <a:ext cx="6096000" cy="461665"/>
          </a:xfrm>
          <a:prstGeom prst="rect">
            <a:avLst/>
          </a:prstGeom>
          <a:noFill/>
        </p:spPr>
        <p:txBody>
          <a:bodyPr wrap="square">
            <a:spAutoFit/>
          </a:bodyPr>
          <a:lstStyle/>
          <a:p>
            <a:r>
              <a:rPr lang="en-US" sz="2400"/>
              <a:t>Sources:</a:t>
            </a:r>
          </a:p>
        </p:txBody>
      </p:sp>
      <p:sp>
        <p:nvSpPr>
          <p:cNvPr id="5" name="TextBox 4"/>
          <p:cNvSpPr txBox="1"/>
          <p:nvPr/>
        </p:nvSpPr>
        <p:spPr>
          <a:xfrm>
            <a:off x="2532185" y="2155431"/>
            <a:ext cx="7362092" cy="3416320"/>
          </a:xfrm>
          <a:prstGeom prst="rect">
            <a:avLst/>
          </a:prstGeom>
          <a:noFill/>
        </p:spPr>
        <p:txBody>
          <a:bodyPr wrap="square">
            <a:spAutoFit/>
          </a:bodyPr>
          <a:lstStyle/>
          <a:p>
            <a:r>
              <a:rPr lang="en-US" sz="2400"/>
              <a:t>Cherry, K. (2025). </a:t>
            </a:r>
            <a:r>
              <a:rPr lang="en-US" sz="2400" i="1"/>
              <a:t>Gardner’s Theory of Multiple Intelligences</a:t>
            </a:r>
            <a:r>
              <a:rPr lang="en-US" sz="2400"/>
              <a:t>. </a:t>
            </a:r>
            <a:r>
              <a:rPr lang="en-US" sz="2400" err="1"/>
              <a:t>Verywell</a:t>
            </a:r>
            <a:r>
              <a:rPr lang="en-US" sz="2400"/>
              <a:t> Mind.</a:t>
            </a:r>
            <a:br>
              <a:rPr lang="en-US" sz="2400"/>
            </a:br>
            <a:r>
              <a:rPr lang="en-US" sz="2400"/>
              <a:t>Retrieved from: </a:t>
            </a:r>
            <a:r>
              <a:rPr lang="en-US" sz="2400">
                <a:hlinkClick r:id="rId2"/>
              </a:rPr>
              <a:t>https://www.verywellmind.com/gardners-theory-of-multiple-intelligences-2795161</a:t>
            </a:r>
            <a:endParaRPr lang="en-US" sz="2400"/>
          </a:p>
          <a:p>
            <a:r>
              <a:rPr lang="en-US" sz="2400"/>
              <a:t>Philippine Science High School System. (2024). </a:t>
            </a:r>
            <a:r>
              <a:rPr lang="en-US" sz="2400" i="1"/>
              <a:t>PSHS Curriculum 2024</a:t>
            </a:r>
            <a:r>
              <a:rPr lang="en-US" sz="2400"/>
              <a:t>.</a:t>
            </a:r>
            <a:br>
              <a:rPr lang="en-US" sz="2400"/>
            </a:br>
            <a:r>
              <a:rPr lang="en-US" sz="2400"/>
              <a:t>Retrieved from: </a:t>
            </a:r>
            <a:r>
              <a:rPr lang="en-US" sz="2400">
                <a:hlinkClick r:id="rId3"/>
              </a:rPr>
              <a:t>https://pshs.edu.ph/pshs-curriculum2024/</a:t>
            </a:r>
            <a:endParaRPr lang="en-US" sz="2400"/>
          </a:p>
        </p:txBody>
      </p:sp>
    </p:spTree>
  </p:cSld>
  <p:clrMapOvr>
    <a:masterClrMapping/>
  </p:clrMapOvr>
  <p:transition spd="slow">
    <p:wedg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Puzzling Out Intelligence</vt:lpstr>
      <vt:lpstr>Members: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Puzzling out Intelligence</dc:title>
  <dc:creator>ACER</dc:creator>
  <cp:revision>15</cp:revision>
  <dcterms:created xsi:type="dcterms:W3CDTF">2025-11-26T03:01:00Z</dcterms:created>
  <dcterms:modified xsi:type="dcterms:W3CDTF">2025-12-23T04:09:19Z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3FEB30AF9A7D42A08499CA2614ACB1C0_13</vt:lpwstr>
  </property>
  <property fmtid="{D5CDD505-2E9C-101B-9397-08002B2CF9AE}" pid="3" name="KSOProductBuildVer">
    <vt:lpwstr>1033-12.2.0.23155</vt:lpwstr>
  </property>
</Properties>
</file>